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4" r:id="rId2"/>
    <p:sldId id="273" r:id="rId3"/>
    <p:sldId id="274" r:id="rId4"/>
    <p:sldId id="287" r:id="rId5"/>
    <p:sldId id="288" r:id="rId6"/>
    <p:sldId id="289" r:id="rId7"/>
    <p:sldId id="290" r:id="rId8"/>
    <p:sldId id="291" r:id="rId9"/>
    <p:sldId id="280" r:id="rId10"/>
    <p:sldId id="293" r:id="rId11"/>
    <p:sldId id="294" r:id="rId12"/>
    <p:sldId id="283"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50" d="100"/>
          <a:sy n="50" d="100"/>
        </p:scale>
        <p:origin x="-29" y="7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782CD-5053-4C1E-AF3B-FD139B6E7B50}"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583544-3FDC-4BF1-A29C-E45461F3FC3D}" type="slidenum">
              <a:rPr lang="zh-CN" altLang="en-US" smtClean="0"/>
              <a:t>‹#›</a:t>
            </a:fld>
            <a:endParaRPr lang="zh-CN" altLang="en-US"/>
          </a:p>
        </p:txBody>
      </p:sp>
    </p:spTree>
    <p:extLst>
      <p:ext uri="{BB962C8B-B14F-4D97-AF65-F5344CB8AC3E}">
        <p14:creationId xmlns:p14="http://schemas.microsoft.com/office/powerpoint/2010/main" val="1469385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morning/afternoon. We are Liu Yubin and Chen Yanpeng. Today, we are excited to present our COMP7940 project: a cloud-native AI assistant for HKBU students, built on Telegram and powered by AWS.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Here's the agenda for our presentation. We'll start with an overview of the project, then dive into the technical architecture, showcase the core features, discuss our cloud deployment strategy, and finally, summarize our key achievements and the challenges we overcame.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project's vision is to create an AI campus assistant for HKBU students. The main goal is to provide a helpful tool for academic support and daily life. To achieve this, we set four core objectives: to build a robust cloud deployment, implement persistent data storage, ensure a cost-effective solution, and develop a rich set of features.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ensure maintainability and scalability, we designed a five-layer architecture. It starts with the User Layer, where students interact with the Telegram bot. The Bot Layer processes these interactions. The API Layer connects to the HKBU LLM for AI capabilities. The Data Layer uses Redis for persistent storage. Finally, the Deployment Layer runs everything on an AWS EC2 instance using Docker.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project is powered by a robust set of technologies. We used AWS EC2 for compute power, Docker for containerization, and AWS ElastiCache with Redis for fast data storage. The Telegram Bot API serves as the user interface, and the HKBU LLM API provides the AI intelligence.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Now let's look at some features. The core of our bot is its AI chat capability, powered by HKBU's LLM, which can help with various academic tasks. We also implemented a memory feature: users can view their chat history with the `/history` command and clear it with `/clear` for privacy.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Beyond AI chat, we added practical utilities. The reminder system allows users to set and list reminders. We also included commands for checking the weather and time. Of course, standard commands like `/start` and `/help` are also available to guide users.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 is our cloud infrastructure in action. We have an EC2 instance running in the Sydney region, and a dedicated ElastiCache Redis cluster connected to it. The entire application is containerized with Docker, ensuring a consistent and manageable deployment.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One of our key achievements is achieving zero-cost operation. By strategically selecting AWS resources that fall within the Free Tier and implementing strict cost monitoring, we have successfully kept the estimated monthly charges at $0.00. This demonstrates a highly cost-effective deployment strategy, which is crucial for student projects.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During development, we faced several challenges. We resolved Docker startup failures by fixing permissions and environment variables. We overcame Redis connectivity issues by adjusting VPC and security group settings. And to handle potential API rate limits, we implemented a caching mechanism using Redis.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summarize, we successfully delivered a fully functional AI chatbot with 9 core commands. We deployed it robustly on AWS EC2 using Docker, implemented secure and persistent storage with Redis, and achieved our goal of zero-cost operation.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Thank you for your attention. We have demonstrated our cloud-native AI chatbot project. The source code is available on GitHub, and you are welcome to try the bot using the QR code or the link provided. We are now happy to answer any questions you may have.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51C145-A0E7-CE69-1D36-CB48F17AC7B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269A5FC-392F-6DFE-020F-238895D5A0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DB8C5AA-B0EB-9376-7A46-29309C474864}"/>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5F6C7F2F-192D-F79B-2F8F-7E070C87CB9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6E0927-7A2B-3DB0-B83F-83626091E600}"/>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1720070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64BF3D-C9F4-235F-ECC0-3B1404E1F1D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F7AFE1-EFB9-FDB3-562C-0419E7E9ED6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5CC045-0C74-BD9B-396D-4407D8296AA1}"/>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19003DE0-D23B-2F67-7E62-2E41A18F1E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4C19E8-BD3B-22A3-856A-EDC6216C8027}"/>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2664834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52AF9B-FD21-A288-802A-BC3BF65714E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F67E86F-9314-E320-1517-C3FFB9A434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F0AD9DE-6B3E-7512-1E00-4748551916F1}"/>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5A98934A-B257-96DF-C2C4-C856D660D7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AF5601-C50E-FFF4-F77E-054417C2E404}"/>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1054265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9E5260-7B7F-DBB8-BE1A-E093E9BD4C6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CC0BC06-1EF7-899A-FF41-5352A3665C9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29E1065-C578-8067-22FC-F4FA6AD7820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B08BFC3-0FD3-B78A-F78A-A04D1E466840}"/>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8B1C3A6E-BA71-E851-56DF-A96F61E8E72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0AFF58A-B9CD-AC4B-203B-93AAC5063D35}"/>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720307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F51E1-CC70-A4E4-B492-A4E9FE6C3B8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33939B3-DAA9-F4A8-A00B-B4E741451E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0B01CAE-538E-9211-ED96-228B1CA1C77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3663894-40C3-C3EA-46D7-339348CDA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8CB43ED-48F6-DCD0-AF2E-9F00EA1A5EA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6D3710C-7C48-4F72-9CD6-B404467D4C15}"/>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8" name="页脚占位符 7">
            <a:extLst>
              <a:ext uri="{FF2B5EF4-FFF2-40B4-BE49-F238E27FC236}">
                <a16:creationId xmlns:a16="http://schemas.microsoft.com/office/drawing/2014/main" id="{25E644BC-9C35-4743-59F3-96D22BCFA7D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35619F9-03ED-1E34-DE5E-77BA85A0825F}"/>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204414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E2ADC-5D39-D8A3-53FB-23AC427168D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4B193E4-C00E-0B49-5ECF-9FAC85C65341}"/>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7AAA3420-69C2-C5C6-9C8F-FF550C98DE0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1B9592B-856B-D4A6-BB60-856AB1807BBB}"/>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771885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443A48-3162-D088-77E7-62864DED1839}"/>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3" name="页脚占位符 2">
            <a:extLst>
              <a:ext uri="{FF2B5EF4-FFF2-40B4-BE49-F238E27FC236}">
                <a16:creationId xmlns:a16="http://schemas.microsoft.com/office/drawing/2014/main" id="{EF8D8886-48E5-4AF8-9C55-DACF9C659AE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6FF588D-15BF-1E41-243A-3F2B87361577}"/>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3390112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1FCEF9-B426-3BBE-531F-46EE76B38FE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93C5E88-A6F8-383A-F560-036D721DBB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3BAA03B-6350-1BB4-A82B-48DC4FD6AA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EA762EB-FCBA-B76D-5890-68E5EEFDB300}"/>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91E4B396-A751-F493-0566-87656B44C20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0136A3-89EE-DB91-15AF-89E78889844F}"/>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2820875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06F29-8D59-B1E0-7557-75A17B2DBC5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716F2CF-263A-5FA2-37E5-9562C8FF01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526686A-8712-2162-747D-F130DAA0DD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6B62CAB-A127-7CE0-6331-3A01041BA3C8}"/>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585DB378-95B9-0BCE-4097-477492E697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943EE4-8DB8-2C5C-B3C5-310773FF3788}"/>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350641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756787-4075-D0FB-293F-B3EE84A073F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40F3D17-0C97-6A91-3AF3-1ED0A6EF65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D53DA1-26A2-3F06-9378-0CCB0CF94F0A}"/>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78B2686E-EE6E-5D95-4DFD-6302541C164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D2D8D2-0B90-2FD6-AC69-163F2CCEB4A4}"/>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1907401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CD2EF71-825F-6340-B143-4A9752FB47F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51109E3-4740-C380-EFFA-A6CC0D46A54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F9FE63-F436-713D-929D-8E95C1825F12}"/>
              </a:ext>
            </a:extLst>
          </p:cNvPr>
          <p:cNvSpPr>
            <a:spLocks noGrp="1"/>
          </p:cNvSpPr>
          <p:nvPr>
            <p:ph type="dt" sz="half" idx="10"/>
          </p:nvPr>
        </p:nvSpPr>
        <p:spPr/>
        <p:txBody>
          <a:bodyPr/>
          <a:lstStyle/>
          <a:p>
            <a:fld id="{953A9194-87B4-4E8E-A412-2156A56D1FD1}"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4FFA3308-EF9F-9759-DDFA-2AD3177DA8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C5234F-4DC9-C78A-0553-FF8FF411E134}"/>
              </a:ext>
            </a:extLst>
          </p:cNvPr>
          <p:cNvSpPr>
            <a:spLocks noGrp="1"/>
          </p:cNvSpPr>
          <p:nvPr>
            <p:ph type="sldNum" sz="quarter" idx="12"/>
          </p:nvPr>
        </p:nvSpPr>
        <p:spPr/>
        <p:txBody>
          <a:body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1322419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883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811272B-56B7-A962-D61B-EE80DE3BE6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123AB99-9F86-B4B6-6046-954858C2CA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07C71DB-6BFB-C467-49B4-47AE0B75B1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3A9194-87B4-4E8E-A412-2156A56D1FD1}"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884E9D5F-4BAF-5322-59FE-EF9BC904CB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492FFB0-052D-AE78-EC59-173BE1FA67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61CEB3-0F5B-47E8-9C54-6EF471D19771}" type="slidenum">
              <a:rPr lang="zh-CN" altLang="en-US" smtClean="0"/>
              <a:t>‹#›</a:t>
            </a:fld>
            <a:endParaRPr lang="zh-CN" altLang="en-US"/>
          </a:p>
        </p:txBody>
      </p:sp>
    </p:spTree>
    <p:extLst>
      <p:ext uri="{BB962C8B-B14F-4D97-AF65-F5344CB8AC3E}">
        <p14:creationId xmlns:p14="http://schemas.microsoft.com/office/powerpoint/2010/main" val="155632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svg"/><Relationship Id="rId9"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slides/_rels/slide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jpeg"/><Relationship Id="rId7" Type="http://schemas.openxmlformats.org/officeDocument/2006/relationships/image" Target="../media/image43.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38.svg"/><Relationship Id="rId4" Type="http://schemas.openxmlformats.org/officeDocument/2006/relationships/image" Target="../media/image37.png"/><Relationship Id="rId9" Type="http://schemas.openxmlformats.org/officeDocument/2006/relationships/image" Target="../media/image45.svg"/></Relationships>
</file>

<file path=ppt/slides/_rels/slide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jpeg"/><Relationship Id="rId7" Type="http://schemas.openxmlformats.org/officeDocument/2006/relationships/image" Target="../media/image50.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52.svg"/></Relationships>
</file>

<file path=ppt/slides/_rels/slide8.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jpeg"/><Relationship Id="rId7"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jpeg"/><Relationship Id="rId9" Type="http://schemas.openxmlformats.org/officeDocument/2006/relationships/image" Target="../media/image59.png"/></Relationships>
</file>

<file path=ppt/slides/_rels/slide9.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17.png"/><Relationship Id="rId7" Type="http://schemas.openxmlformats.org/officeDocument/2006/relationships/image" Target="../media/image63.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18.svg"/><Relationship Id="rId9" Type="http://schemas.openxmlformats.org/officeDocument/2006/relationships/image" Target="../media/image65.png"/></Relationships>
</file>

<file path=ppt/slides/_rels/slide1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31.png"/><Relationship Id="rId7" Type="http://schemas.openxmlformats.org/officeDocument/2006/relationships/image" Target="../media/image68.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32.svg"/></Relationships>
</file>

<file path=ppt/slides/_rels/slide11.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70.png"/><Relationship Id="rId7" Type="http://schemas.openxmlformats.org/officeDocument/2006/relationships/image" Target="../media/image7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75.svg"/><Relationship Id="rId4" Type="http://schemas.openxmlformats.org/officeDocument/2006/relationships/image" Target="../media/image71.svg"/><Relationship Id="rId9" Type="http://schemas.openxmlformats.org/officeDocument/2006/relationships/image" Target="../media/image74.png"/></Relationships>
</file>

<file path=ppt/slides/_rels/slide12.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jp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7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1524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1F2937"/>
                </a:solidFill>
                <a:latin typeface="Poppins"/>
                <a:ea typeface="Poppins"/>
                <a:cs typeface="Poppins"/>
                <a:sym typeface="Poppins"/>
              </a:rPr>
              <a:t>COMP7940 Chatbot Project</a:t>
            </a:r>
            <a:endParaRPr lang="en-US" sz="1100"/>
          </a:p>
        </p:txBody>
      </p:sp>
      <p:sp>
        <p:nvSpPr>
          <p:cNvPr id="3" name="AutoShape 3"/>
          <p:cNvSpPr/>
          <p:nvPr/>
        </p:nvSpPr>
        <p:spPr>
          <a:xfrm>
            <a:off x="1016000" y="2413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0" i="0" u="none" strike="noStrike">
                <a:solidFill>
                  <a:srgbClr val="3B82F6"/>
                </a:solidFill>
                <a:latin typeface="Poppins"/>
                <a:ea typeface="Poppins"/>
                <a:cs typeface="Poppins"/>
                <a:sym typeface="Poppins"/>
              </a:rPr>
              <a:t>A Cloud-Native AI Assistant for HKBU Students</a:t>
            </a:r>
            <a:endParaRPr lang="en-US" sz="1100"/>
          </a:p>
        </p:txBody>
      </p:sp>
      <p:sp>
        <p:nvSpPr>
          <p:cNvPr id="4" name="AutoShape 4"/>
          <p:cNvSpPr/>
          <p:nvPr/>
        </p:nvSpPr>
        <p:spPr>
          <a:xfrm>
            <a:off x="1016000" y="3429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B7280"/>
                </a:solidFill>
                <a:latin typeface="Poppins"/>
                <a:ea typeface="Poppins"/>
                <a:cs typeface="Poppins"/>
                <a:sym typeface="Poppins"/>
              </a:rPr>
              <a:t>PRESENTED BY</a:t>
            </a:r>
            <a:endParaRPr lang="en-US" sz="1100"/>
          </a:p>
        </p:txBody>
      </p:sp>
      <p:sp>
        <p:nvSpPr>
          <p:cNvPr id="5" name="AutoShape 5"/>
          <p:cNvSpPr/>
          <p:nvPr/>
        </p:nvSpPr>
        <p:spPr>
          <a:xfrm>
            <a:off x="1016000" y="3937000"/>
            <a:ext cx="4953000" cy="1143000"/>
          </a:xfrm>
          <a:prstGeom prst="roundRect">
            <a:avLst>
              <a:gd name="adj" fmla="val 17777"/>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4191000"/>
            <a:ext cx="609600" cy="609600"/>
          </a:xfrm>
          <a:prstGeom prst="rect">
            <a:avLst/>
          </a:prstGeom>
        </p:spPr>
      </p:pic>
      <p:sp>
        <p:nvSpPr>
          <p:cNvPr id="7" name="AutoShape 7"/>
          <p:cNvSpPr/>
          <p:nvPr/>
        </p:nvSpPr>
        <p:spPr>
          <a:xfrm>
            <a:off x="2159000" y="419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Liu Yubin</a:t>
            </a:r>
            <a:endParaRPr lang="en-US" sz="1100"/>
          </a:p>
        </p:txBody>
      </p:sp>
      <p:sp>
        <p:nvSpPr>
          <p:cNvPr id="8" name="AutoShape 8"/>
          <p:cNvSpPr/>
          <p:nvPr/>
        </p:nvSpPr>
        <p:spPr>
          <a:xfrm>
            <a:off x="2159000" y="4635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Poppins"/>
                <a:ea typeface="Poppins"/>
                <a:cs typeface="Poppins"/>
                <a:sym typeface="Poppins"/>
              </a:rPr>
              <a:t>Student ID: 25469525</a:t>
            </a:r>
            <a:endParaRPr lang="en-US" sz="1100"/>
          </a:p>
        </p:txBody>
      </p:sp>
      <p:sp>
        <p:nvSpPr>
          <p:cNvPr id="9" name="AutoShape 9"/>
          <p:cNvSpPr/>
          <p:nvPr/>
        </p:nvSpPr>
        <p:spPr>
          <a:xfrm>
            <a:off x="6223000" y="3937000"/>
            <a:ext cx="4953000" cy="1143000"/>
          </a:xfrm>
          <a:prstGeom prst="roundRect">
            <a:avLst>
              <a:gd name="adj" fmla="val 17777"/>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4191000"/>
            <a:ext cx="609600" cy="609600"/>
          </a:xfrm>
          <a:prstGeom prst="rect">
            <a:avLst/>
          </a:prstGeom>
        </p:spPr>
      </p:pic>
      <p:sp>
        <p:nvSpPr>
          <p:cNvPr id="11" name="AutoShape 11"/>
          <p:cNvSpPr/>
          <p:nvPr/>
        </p:nvSpPr>
        <p:spPr>
          <a:xfrm>
            <a:off x="7366000" y="419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Chen Yanpeng</a:t>
            </a:r>
            <a:endParaRPr lang="en-US" sz="1100"/>
          </a:p>
        </p:txBody>
      </p:sp>
      <p:sp>
        <p:nvSpPr>
          <p:cNvPr id="12" name="AutoShape 12"/>
          <p:cNvSpPr/>
          <p:nvPr/>
        </p:nvSpPr>
        <p:spPr>
          <a:xfrm>
            <a:off x="7366000" y="4635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Poppins"/>
                <a:ea typeface="Poppins"/>
                <a:cs typeface="Poppins"/>
                <a:sym typeface="Poppins"/>
              </a:rPr>
              <a:t>Student ID: 25401947</a:t>
            </a:r>
            <a:endParaRPr lang="en-US" sz="1100"/>
          </a:p>
        </p:txBody>
      </p:sp>
      <p:sp>
        <p:nvSpPr>
          <p:cNvPr id="13" name="AutoShape 13"/>
          <p:cNvSpPr/>
          <p:nvPr/>
        </p:nvSpPr>
        <p:spPr>
          <a:xfrm>
            <a:off x="1016000" y="5461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CA3AF"/>
                </a:solidFill>
                <a:latin typeface="Poppins"/>
                <a:ea typeface="Poppins"/>
                <a:cs typeface="Poppins"/>
                <a:sym typeface="Poppins"/>
              </a:rPr>
              <a:t>DATE: April 14,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Agenda</a:t>
            </a:r>
            <a:endParaRPr lang="en-US" sz="1100"/>
          </a:p>
        </p:txBody>
      </p:sp>
      <p:sp>
        <p:nvSpPr>
          <p:cNvPr id="3" name="AutoShape 3"/>
          <p:cNvSpPr/>
          <p:nvPr/>
        </p:nvSpPr>
        <p:spPr>
          <a:xfrm>
            <a:off x="762000" y="1143000"/>
            <a:ext cx="5080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888888"/>
                </a:solidFill>
                <a:latin typeface="Poppins"/>
                <a:ea typeface="Poppins"/>
                <a:cs typeface="Poppins"/>
                <a:sym typeface="Poppins"/>
              </a:rPr>
              <a:t>What We'll Cover Today</a:t>
            </a:r>
            <a:endParaRPr lang="en-US" sz="1100"/>
          </a:p>
        </p:txBody>
      </p:sp>
      <p:sp>
        <p:nvSpPr>
          <p:cNvPr id="4" name="AutoShape 4"/>
          <p:cNvSpPr/>
          <p:nvPr/>
        </p:nvSpPr>
        <p:spPr>
          <a:xfrm>
            <a:off x="762000" y="1778000"/>
            <a:ext cx="5207000" cy="1397000"/>
          </a:xfrm>
          <a:prstGeom prst="roundRect">
            <a:avLst>
              <a:gd name="adj" fmla="val 10909"/>
            </a:avLst>
          </a:prstGeom>
          <a:solidFill>
            <a:srgbClr val="F8F9FA">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2794000" y="2032000"/>
            <a:ext cx="292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Project Overview</a:t>
            </a:r>
            <a:endParaRPr lang="en-US" sz="1100"/>
          </a:p>
        </p:txBody>
      </p:sp>
      <p:sp>
        <p:nvSpPr>
          <p:cNvPr id="9" name="AutoShape 9"/>
          <p:cNvSpPr/>
          <p:nvPr/>
        </p:nvSpPr>
        <p:spPr>
          <a:xfrm>
            <a:off x="2794000" y="24384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777777"/>
                </a:solidFill>
                <a:latin typeface="Poppins"/>
                <a:ea typeface="Poppins"/>
                <a:cs typeface="Poppins"/>
                <a:sym typeface="Poppins"/>
              </a:rPr>
              <a:t>The "Why" behind our chatbot: Understanding the core motivation and goals.</a:t>
            </a:r>
            <a:endParaRPr lang="en-US" sz="1100"/>
          </a:p>
        </p:txBody>
      </p:sp>
      <p:sp>
        <p:nvSpPr>
          <p:cNvPr id="10" name="AutoShape 10"/>
          <p:cNvSpPr/>
          <p:nvPr/>
        </p:nvSpPr>
        <p:spPr>
          <a:xfrm>
            <a:off x="6223000" y="1778000"/>
            <a:ext cx="5207000" cy="1397000"/>
          </a:xfrm>
          <a:prstGeom prst="roundRect">
            <a:avLst>
              <a:gd name="adj" fmla="val 10909"/>
            </a:avLst>
          </a:prstGeom>
          <a:solidFill>
            <a:srgbClr val="F8F9FA">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8255000" y="2032000"/>
            <a:ext cx="292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Technical Architecture</a:t>
            </a:r>
            <a:endParaRPr lang="en-US" sz="1100"/>
          </a:p>
        </p:txBody>
      </p:sp>
      <p:sp>
        <p:nvSpPr>
          <p:cNvPr id="15" name="AutoShape 15"/>
          <p:cNvSpPr/>
          <p:nvPr/>
        </p:nvSpPr>
        <p:spPr>
          <a:xfrm>
            <a:off x="8255000" y="24384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777777"/>
                </a:solidFill>
                <a:latin typeface="Poppins"/>
                <a:ea typeface="Poppins"/>
                <a:cs typeface="Poppins"/>
                <a:sym typeface="Poppins"/>
              </a:rPr>
              <a:t>The "How" we built it: Exploring the tech stack and system design workflow.</a:t>
            </a:r>
            <a:endParaRPr lang="en-US" sz="1100"/>
          </a:p>
        </p:txBody>
      </p:sp>
      <p:sp>
        <p:nvSpPr>
          <p:cNvPr id="16" name="AutoShape 16"/>
          <p:cNvSpPr/>
          <p:nvPr/>
        </p:nvSpPr>
        <p:spPr>
          <a:xfrm>
            <a:off x="762000" y="3429000"/>
            <a:ext cx="5207000" cy="1397000"/>
          </a:xfrm>
          <a:prstGeom prst="roundRect">
            <a:avLst>
              <a:gd name="adj" fmla="val 10909"/>
            </a:avLst>
          </a:prstGeom>
          <a:solidFill>
            <a:srgbClr val="F8F9FA">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2794000" y="3683000"/>
            <a:ext cx="292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Core Features</a:t>
            </a:r>
            <a:endParaRPr lang="en-US" sz="1100"/>
          </a:p>
        </p:txBody>
      </p:sp>
      <p:sp>
        <p:nvSpPr>
          <p:cNvPr id="21" name="AutoShape 21"/>
          <p:cNvSpPr/>
          <p:nvPr/>
        </p:nvSpPr>
        <p:spPr>
          <a:xfrm>
            <a:off x="2794000" y="40894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777777"/>
                </a:solidFill>
                <a:latin typeface="Poppins"/>
                <a:ea typeface="Poppins"/>
                <a:cs typeface="Poppins"/>
                <a:sym typeface="Poppins"/>
              </a:rPr>
              <a:t>The "What" it can do: A detailed showcase of the chatbot's key functionalities.</a:t>
            </a:r>
            <a:endParaRPr lang="en-US" sz="1100"/>
          </a:p>
        </p:txBody>
      </p:sp>
      <p:sp>
        <p:nvSpPr>
          <p:cNvPr id="22" name="AutoShape 22"/>
          <p:cNvSpPr/>
          <p:nvPr/>
        </p:nvSpPr>
        <p:spPr>
          <a:xfrm>
            <a:off x="6223000" y="3429000"/>
            <a:ext cx="5207000" cy="1397000"/>
          </a:xfrm>
          <a:prstGeom prst="roundRect">
            <a:avLst>
              <a:gd name="adj" fmla="val 10909"/>
            </a:avLst>
          </a:prstGeom>
          <a:solidFill>
            <a:srgbClr val="F8F9FA">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26" name="AutoShape 26"/>
          <p:cNvSpPr/>
          <p:nvPr/>
        </p:nvSpPr>
        <p:spPr>
          <a:xfrm>
            <a:off x="8255000" y="3683000"/>
            <a:ext cx="292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Cloud Deployment</a:t>
            </a:r>
            <a:endParaRPr lang="en-US" sz="1100"/>
          </a:p>
        </p:txBody>
      </p:sp>
      <p:sp>
        <p:nvSpPr>
          <p:cNvPr id="27" name="AutoShape 27"/>
          <p:cNvSpPr/>
          <p:nvPr/>
        </p:nvSpPr>
        <p:spPr>
          <a:xfrm>
            <a:off x="8255000" y="40894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777777"/>
                </a:solidFill>
                <a:latin typeface="Poppins"/>
                <a:ea typeface="Poppins"/>
                <a:cs typeface="Poppins"/>
                <a:sym typeface="Poppins"/>
              </a:rPr>
              <a:t>The "Where" it runs: Our strategy for scalable, reliable cloud infrastructure.</a:t>
            </a:r>
            <a:endParaRPr lang="en-US" sz="1100"/>
          </a:p>
        </p:txBody>
      </p:sp>
      <p:sp>
        <p:nvSpPr>
          <p:cNvPr id="28" name="AutoShape 28"/>
          <p:cNvSpPr/>
          <p:nvPr/>
        </p:nvSpPr>
        <p:spPr>
          <a:xfrm>
            <a:off x="762000" y="5080000"/>
            <a:ext cx="10668000" cy="1143000"/>
          </a:xfrm>
          <a:prstGeom prst="roundRect">
            <a:avLst>
              <a:gd name="adj" fmla="val 13333"/>
            </a:avLst>
          </a:prstGeom>
          <a:solidFill>
            <a:srgbClr val="F8F9FA">
              <a:alpha val="100000"/>
            </a:srgbClr>
          </a:solidFill>
          <a:ln w="25400" cap="flat" cmpd="sng">
            <a:noFill/>
            <a:prstDash val="solid"/>
            <a:round/>
          </a:ln>
          <a:effectLst>
            <a:outerShdw blurRad="152400" dist="50800" dir="5400000" algn="tl" rotWithShape="0">
              <a:srgbClr val="000000">
                <a:alpha val="6000"/>
              </a:srgbClr>
            </a:outerShdw>
          </a:effectLst>
        </p:spPr>
        <p:txBody>
          <a:bodyPr vert="horz" wrap="square" lIns="63500" tIns="63500" rIns="63500" bIns="63500" rtlCol="0" anchor="ctr"/>
          <a:lstStyle/>
          <a:p>
            <a:pPr algn="ctr">
              <a:defRPr/>
            </a:pPr>
            <a:endParaRPr/>
          </a:p>
        </p:txBody>
      </p:sp>
      <p:sp>
        <p:nvSpPr>
          <p:cNvPr id="32" name="AutoShape 32"/>
          <p:cNvSpPr/>
          <p:nvPr/>
        </p:nvSpPr>
        <p:spPr>
          <a:xfrm>
            <a:off x="2794000" y="5397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Key Achievements &amp; Challenges</a:t>
            </a:r>
            <a:endParaRPr lang="en-US" sz="1100"/>
          </a:p>
        </p:txBody>
      </p:sp>
      <p:sp>
        <p:nvSpPr>
          <p:cNvPr id="33" name="AutoShape 33"/>
          <p:cNvSpPr/>
          <p:nvPr/>
        </p:nvSpPr>
        <p:spPr>
          <a:xfrm>
            <a:off x="6604000" y="5397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777777"/>
                </a:solidFill>
                <a:latin typeface="Poppins"/>
                <a:ea typeface="Poppins"/>
                <a:cs typeface="Poppins"/>
                <a:sym typeface="Poppins"/>
              </a:rPr>
              <a:t>The "Results" and lessons learned: Measuring the project's success metrics and the obstacles we overcame.</a:t>
            </a:r>
            <a:endParaRPr lang="en-US" sz="1100"/>
          </a:p>
        </p:txBody>
      </p:sp>
      <p:sp>
        <p:nvSpPr>
          <p:cNvPr id="34" name="AutoShape 23">
            <a:extLst>
              <a:ext uri="{FF2B5EF4-FFF2-40B4-BE49-F238E27FC236}">
                <a16:creationId xmlns:a16="http://schemas.microsoft.com/office/drawing/2014/main" id="{9DDB7B43-E6CB-095D-829E-2E0B2F542C53}"/>
              </a:ext>
            </a:extLst>
          </p:cNvPr>
          <p:cNvSpPr/>
          <p:nvPr/>
        </p:nvSpPr>
        <p:spPr>
          <a:xfrm>
            <a:off x="6540500" y="381508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24">
            <a:extLst>
              <a:ext uri="{FF2B5EF4-FFF2-40B4-BE49-F238E27FC236}">
                <a16:creationId xmlns:a16="http://schemas.microsoft.com/office/drawing/2014/main" id="{1CD45E82-4DC9-D91E-7600-72A7C3657089}"/>
              </a:ext>
            </a:extLst>
          </p:cNvPr>
          <p:cNvSpPr/>
          <p:nvPr/>
        </p:nvSpPr>
        <p:spPr>
          <a:xfrm>
            <a:off x="6540500" y="4005580"/>
            <a:ext cx="76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Poppins"/>
                <a:ea typeface="Poppins"/>
                <a:cs typeface="Poppins"/>
                <a:sym typeface="Poppins"/>
              </a:rPr>
              <a:t>04</a:t>
            </a:r>
            <a:endParaRPr lang="en-US" sz="1100"/>
          </a:p>
        </p:txBody>
      </p:sp>
      <p:pic>
        <p:nvPicPr>
          <p:cNvPr id="36" name="Picture 25">
            <a:extLst>
              <a:ext uri="{FF2B5EF4-FFF2-40B4-BE49-F238E27FC236}">
                <a16:creationId xmlns:a16="http://schemas.microsoft.com/office/drawing/2014/main" id="{68D4BD2C-D455-D0C4-FDA5-9ACCC7180B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56500" y="3878580"/>
            <a:ext cx="508000" cy="508000"/>
          </a:xfrm>
          <a:prstGeom prst="rect">
            <a:avLst/>
          </a:prstGeom>
        </p:spPr>
      </p:pic>
      <p:sp>
        <p:nvSpPr>
          <p:cNvPr id="49" name="AutoShape 5">
            <a:extLst>
              <a:ext uri="{FF2B5EF4-FFF2-40B4-BE49-F238E27FC236}">
                <a16:creationId xmlns:a16="http://schemas.microsoft.com/office/drawing/2014/main" id="{97F27A01-1279-DA11-6E62-23A59F31D6FB}"/>
              </a:ext>
            </a:extLst>
          </p:cNvPr>
          <p:cNvSpPr/>
          <p:nvPr/>
        </p:nvSpPr>
        <p:spPr>
          <a:xfrm>
            <a:off x="952500" y="209423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6">
            <a:extLst>
              <a:ext uri="{FF2B5EF4-FFF2-40B4-BE49-F238E27FC236}">
                <a16:creationId xmlns:a16="http://schemas.microsoft.com/office/drawing/2014/main" id="{1168390F-D640-2350-F9A8-4FBDB4DD533C}"/>
              </a:ext>
            </a:extLst>
          </p:cNvPr>
          <p:cNvSpPr/>
          <p:nvPr/>
        </p:nvSpPr>
        <p:spPr>
          <a:xfrm>
            <a:off x="952500" y="2284730"/>
            <a:ext cx="76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a:solidFill>
                  <a:srgbClr val="FFFFFF"/>
                </a:solidFill>
                <a:latin typeface="Poppins"/>
                <a:ea typeface="Poppins"/>
                <a:cs typeface="Poppins"/>
                <a:sym typeface="Poppins"/>
              </a:rPr>
              <a:t>01</a:t>
            </a:r>
            <a:endParaRPr lang="en-US" sz="1100" dirty="0"/>
          </a:p>
        </p:txBody>
      </p:sp>
      <p:pic>
        <p:nvPicPr>
          <p:cNvPr id="51" name="Picture 7">
            <a:extLst>
              <a:ext uri="{FF2B5EF4-FFF2-40B4-BE49-F238E27FC236}">
                <a16:creationId xmlns:a16="http://schemas.microsoft.com/office/drawing/2014/main" id="{87F6BDB0-8C8B-0D31-67D9-D837FEDC6B9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68500" y="2157730"/>
            <a:ext cx="508000" cy="508000"/>
          </a:xfrm>
          <a:prstGeom prst="rect">
            <a:avLst/>
          </a:prstGeom>
        </p:spPr>
      </p:pic>
      <p:sp>
        <p:nvSpPr>
          <p:cNvPr id="52" name="AutoShape 11">
            <a:extLst>
              <a:ext uri="{FF2B5EF4-FFF2-40B4-BE49-F238E27FC236}">
                <a16:creationId xmlns:a16="http://schemas.microsoft.com/office/drawing/2014/main" id="{20878C82-C94E-6B13-124F-AA050F5A39D9}"/>
              </a:ext>
            </a:extLst>
          </p:cNvPr>
          <p:cNvSpPr/>
          <p:nvPr/>
        </p:nvSpPr>
        <p:spPr>
          <a:xfrm>
            <a:off x="6540500" y="209423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AutoShape 12">
            <a:extLst>
              <a:ext uri="{FF2B5EF4-FFF2-40B4-BE49-F238E27FC236}">
                <a16:creationId xmlns:a16="http://schemas.microsoft.com/office/drawing/2014/main" id="{CDB18F28-4C4C-E020-629D-A6865E107643}"/>
              </a:ext>
            </a:extLst>
          </p:cNvPr>
          <p:cNvSpPr/>
          <p:nvPr/>
        </p:nvSpPr>
        <p:spPr>
          <a:xfrm>
            <a:off x="6540500" y="2284730"/>
            <a:ext cx="76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Poppins"/>
                <a:ea typeface="Poppins"/>
                <a:cs typeface="Poppins"/>
                <a:sym typeface="Poppins"/>
              </a:rPr>
              <a:t>02</a:t>
            </a:r>
            <a:endParaRPr lang="en-US" sz="1100"/>
          </a:p>
        </p:txBody>
      </p:sp>
      <p:pic>
        <p:nvPicPr>
          <p:cNvPr id="54" name="Picture 13">
            <a:extLst>
              <a:ext uri="{FF2B5EF4-FFF2-40B4-BE49-F238E27FC236}">
                <a16:creationId xmlns:a16="http://schemas.microsoft.com/office/drawing/2014/main" id="{6139030B-7281-ACFE-D997-C89B37FBDAE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56500" y="2157730"/>
            <a:ext cx="508000" cy="508000"/>
          </a:xfrm>
          <a:prstGeom prst="rect">
            <a:avLst/>
          </a:prstGeom>
        </p:spPr>
      </p:pic>
      <p:sp>
        <p:nvSpPr>
          <p:cNvPr id="55" name="AutoShape 17">
            <a:extLst>
              <a:ext uri="{FF2B5EF4-FFF2-40B4-BE49-F238E27FC236}">
                <a16:creationId xmlns:a16="http://schemas.microsoft.com/office/drawing/2014/main" id="{AAC05C26-5FFE-4AA2-8C9E-7B2D2BD60CD5}"/>
              </a:ext>
            </a:extLst>
          </p:cNvPr>
          <p:cNvSpPr/>
          <p:nvPr/>
        </p:nvSpPr>
        <p:spPr>
          <a:xfrm>
            <a:off x="952500" y="381508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AutoShape 18">
            <a:extLst>
              <a:ext uri="{FF2B5EF4-FFF2-40B4-BE49-F238E27FC236}">
                <a16:creationId xmlns:a16="http://schemas.microsoft.com/office/drawing/2014/main" id="{7130680F-B8C7-E611-3D27-C527C2F13C7F}"/>
              </a:ext>
            </a:extLst>
          </p:cNvPr>
          <p:cNvSpPr/>
          <p:nvPr/>
        </p:nvSpPr>
        <p:spPr>
          <a:xfrm>
            <a:off x="952500" y="4005580"/>
            <a:ext cx="76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Poppins"/>
                <a:ea typeface="Poppins"/>
                <a:cs typeface="Poppins"/>
                <a:sym typeface="Poppins"/>
              </a:rPr>
              <a:t>03</a:t>
            </a:r>
            <a:endParaRPr lang="en-US" sz="1100"/>
          </a:p>
        </p:txBody>
      </p:sp>
      <p:pic>
        <p:nvPicPr>
          <p:cNvPr id="57" name="Picture 19">
            <a:extLst>
              <a:ext uri="{FF2B5EF4-FFF2-40B4-BE49-F238E27FC236}">
                <a16:creationId xmlns:a16="http://schemas.microsoft.com/office/drawing/2014/main" id="{24D63F1F-A797-69C4-52CC-C09E9D9C0E2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968500" y="3815080"/>
            <a:ext cx="508000" cy="508000"/>
          </a:xfrm>
          <a:prstGeom prst="rect">
            <a:avLst/>
          </a:prstGeom>
        </p:spPr>
      </p:pic>
      <p:sp>
        <p:nvSpPr>
          <p:cNvPr id="58" name="AutoShape 29">
            <a:extLst>
              <a:ext uri="{FF2B5EF4-FFF2-40B4-BE49-F238E27FC236}">
                <a16:creationId xmlns:a16="http://schemas.microsoft.com/office/drawing/2014/main" id="{56427FCA-25C1-CB46-3720-85EC9C4F3661}"/>
              </a:ext>
            </a:extLst>
          </p:cNvPr>
          <p:cNvSpPr/>
          <p:nvPr/>
        </p:nvSpPr>
        <p:spPr>
          <a:xfrm>
            <a:off x="952500" y="533400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AutoShape 30">
            <a:extLst>
              <a:ext uri="{FF2B5EF4-FFF2-40B4-BE49-F238E27FC236}">
                <a16:creationId xmlns:a16="http://schemas.microsoft.com/office/drawing/2014/main" id="{18C13547-9190-DF35-7E8D-86C23437D7A5}"/>
              </a:ext>
            </a:extLst>
          </p:cNvPr>
          <p:cNvSpPr/>
          <p:nvPr/>
        </p:nvSpPr>
        <p:spPr>
          <a:xfrm>
            <a:off x="952500" y="5524500"/>
            <a:ext cx="76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Poppins"/>
                <a:ea typeface="Poppins"/>
                <a:cs typeface="Poppins"/>
                <a:sym typeface="Poppins"/>
              </a:rPr>
              <a:t>05</a:t>
            </a:r>
            <a:endParaRPr lang="en-US" sz="1100"/>
          </a:p>
        </p:txBody>
      </p:sp>
      <p:pic>
        <p:nvPicPr>
          <p:cNvPr id="60" name="Picture 31">
            <a:extLst>
              <a:ext uri="{FF2B5EF4-FFF2-40B4-BE49-F238E27FC236}">
                <a16:creationId xmlns:a16="http://schemas.microsoft.com/office/drawing/2014/main" id="{073C9709-88B4-CD69-C0EE-2D4D1BB62F5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68500" y="5397500"/>
            <a:ext cx="508000" cy="50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Project Introduction &amp; Objectives</a:t>
            </a:r>
            <a:endParaRPr lang="en-US" sz="1100"/>
          </a:p>
        </p:txBody>
      </p:sp>
      <p:sp>
        <p:nvSpPr>
          <p:cNvPr id="3" name="AutoShape 3"/>
          <p:cNvSpPr/>
          <p:nvPr/>
        </p:nvSpPr>
        <p:spPr>
          <a:xfrm>
            <a:off x="762000" y="1397000"/>
            <a:ext cx="3937000" cy="4826000"/>
          </a:xfrm>
          <a:prstGeom prst="roundRect">
            <a:avLst>
              <a:gd name="adj" fmla="val 3870"/>
            </a:avLst>
          </a:prstGeom>
          <a:solidFill>
            <a:srgbClr val="F3F4F6">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1778000"/>
            <a:ext cx="812800" cy="812800"/>
          </a:xfrm>
          <a:prstGeom prst="rect">
            <a:avLst/>
          </a:prstGeom>
        </p:spPr>
      </p:pic>
      <p:sp>
        <p:nvSpPr>
          <p:cNvPr id="5" name="AutoShape 5"/>
          <p:cNvSpPr/>
          <p:nvPr/>
        </p:nvSpPr>
        <p:spPr>
          <a:xfrm>
            <a:off x="1143000" y="2794000"/>
            <a:ext cx="317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563EB"/>
                </a:solidFill>
                <a:latin typeface="Poppins"/>
                <a:ea typeface="Poppins"/>
                <a:cs typeface="Poppins"/>
                <a:sym typeface="Poppins"/>
              </a:rPr>
              <a:t>The Vision</a:t>
            </a:r>
            <a:endParaRPr lang="en-US" sz="1100"/>
          </a:p>
        </p:txBody>
      </p:sp>
      <p:sp>
        <p:nvSpPr>
          <p:cNvPr id="6" name="AutoShape 6"/>
          <p:cNvSpPr/>
          <p:nvPr/>
        </p:nvSpPr>
        <p:spPr>
          <a:xfrm>
            <a:off x="1143000" y="3429000"/>
            <a:ext cx="317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Poppins"/>
                <a:ea typeface="Poppins"/>
                <a:cs typeface="Poppins"/>
                <a:sym typeface="Poppins"/>
              </a:rPr>
              <a:t>An AI Campus Assistant</a:t>
            </a:r>
            <a:endParaRPr lang="en-US" sz="1100"/>
          </a:p>
        </p:txBody>
      </p:sp>
      <p:cxnSp>
        <p:nvCxnSpPr>
          <p:cNvPr id="7" name="Connector 7"/>
          <p:cNvCxnSpPr/>
          <p:nvPr/>
        </p:nvCxnSpPr>
        <p:spPr>
          <a:xfrm rot="-13750">
            <a:off x="1143013" y="4184650"/>
            <a:ext cx="3175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8" name="AutoShape 8"/>
          <p:cNvSpPr/>
          <p:nvPr/>
        </p:nvSpPr>
        <p:spPr>
          <a:xfrm>
            <a:off x="1143000" y="4445000"/>
            <a:ext cx="317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555555"/>
                </a:solidFill>
                <a:latin typeface="Poppins"/>
                <a:ea typeface="Poppins"/>
                <a:cs typeface="Poppins"/>
                <a:sym typeface="Poppins"/>
              </a:rPr>
              <a:t>PRIMARY GOAL</a:t>
            </a:r>
            <a:endParaRPr lang="en-US" sz="1100"/>
          </a:p>
        </p:txBody>
      </p:sp>
      <p:sp>
        <p:nvSpPr>
          <p:cNvPr id="9" name="AutoShape 9"/>
          <p:cNvSpPr/>
          <p:nvPr/>
        </p:nvSpPr>
        <p:spPr>
          <a:xfrm>
            <a:off x="1143000" y="4953000"/>
            <a:ext cx="3175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6B7280"/>
                </a:solidFill>
                <a:latin typeface="Poppins"/>
                <a:ea typeface="Poppins"/>
                <a:cs typeface="Poppins"/>
                <a:sym typeface="Poppins"/>
              </a:rPr>
              <a:t>To develop a Telegram-based AI chatbot tailored specifically for HKBU students, providing academic support and daily utility.</a:t>
            </a:r>
            <a:endParaRPr lang="en-US" sz="1100"/>
          </a:p>
        </p:txBody>
      </p:sp>
      <p:sp>
        <p:nvSpPr>
          <p:cNvPr id="10" name="AutoShape 10"/>
          <p:cNvSpPr/>
          <p:nvPr/>
        </p:nvSpPr>
        <p:spPr>
          <a:xfrm>
            <a:off x="4953000" y="1397000"/>
            <a:ext cx="3175000" cy="2286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07000" y="1651000"/>
            <a:ext cx="508000" cy="508000"/>
          </a:xfrm>
          <a:prstGeom prst="rect">
            <a:avLst/>
          </a:prstGeom>
        </p:spPr>
      </p:pic>
      <p:sp>
        <p:nvSpPr>
          <p:cNvPr id="12" name="AutoShape 12"/>
          <p:cNvSpPr/>
          <p:nvPr/>
        </p:nvSpPr>
        <p:spPr>
          <a:xfrm>
            <a:off x="5969000" y="1714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Robust Cloud Deployment</a:t>
            </a:r>
            <a:endParaRPr lang="en-US" sz="1100"/>
          </a:p>
        </p:txBody>
      </p:sp>
      <p:sp>
        <p:nvSpPr>
          <p:cNvPr id="13" name="AutoShape 13"/>
          <p:cNvSpPr/>
          <p:nvPr/>
        </p:nvSpPr>
        <p:spPr>
          <a:xfrm>
            <a:off x="5207000" y="2413000"/>
            <a:ext cx="2667000" cy="1016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dirty="0">
                <a:solidFill>
                  <a:srgbClr val="6B7280"/>
                </a:solidFill>
                <a:latin typeface="Poppins"/>
                <a:ea typeface="Poppins"/>
                <a:cs typeface="Poppins"/>
                <a:sym typeface="Poppins"/>
              </a:rPr>
              <a:t>Leverage AWS EC2 and Docker to build a stable, scalable, and maintainable backend infrastructure.</a:t>
            </a:r>
            <a:endParaRPr lang="en-US" sz="1100" dirty="0"/>
          </a:p>
        </p:txBody>
      </p:sp>
      <p:sp>
        <p:nvSpPr>
          <p:cNvPr id="14" name="AutoShape 14"/>
          <p:cNvSpPr/>
          <p:nvPr/>
        </p:nvSpPr>
        <p:spPr>
          <a:xfrm>
            <a:off x="8382000" y="1397000"/>
            <a:ext cx="3175000" cy="2286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6000" y="1651000"/>
            <a:ext cx="508000" cy="508000"/>
          </a:xfrm>
          <a:prstGeom prst="rect">
            <a:avLst/>
          </a:prstGeom>
        </p:spPr>
      </p:pic>
      <p:sp>
        <p:nvSpPr>
          <p:cNvPr id="16" name="AutoShape 16"/>
          <p:cNvSpPr/>
          <p:nvPr/>
        </p:nvSpPr>
        <p:spPr>
          <a:xfrm>
            <a:off x="9398000" y="1714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Persistent Data Storage</a:t>
            </a:r>
            <a:endParaRPr lang="en-US" sz="1100"/>
          </a:p>
        </p:txBody>
      </p:sp>
      <p:sp>
        <p:nvSpPr>
          <p:cNvPr id="17" name="AutoShape 17"/>
          <p:cNvSpPr/>
          <p:nvPr/>
        </p:nvSpPr>
        <p:spPr>
          <a:xfrm>
            <a:off x="8636000" y="2413000"/>
            <a:ext cx="2667000" cy="1016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6B7280"/>
                </a:solidFill>
                <a:latin typeface="Poppins"/>
                <a:ea typeface="Poppins"/>
                <a:cs typeface="Poppins"/>
                <a:sym typeface="Poppins"/>
              </a:rPr>
              <a:t>Utilize AWS ElastiCache (Redis) to reliably maintain user chat history, preferences, and session states.</a:t>
            </a:r>
            <a:endParaRPr lang="en-US" sz="1100"/>
          </a:p>
        </p:txBody>
      </p:sp>
      <p:sp>
        <p:nvSpPr>
          <p:cNvPr id="18" name="AutoShape 18"/>
          <p:cNvSpPr/>
          <p:nvPr/>
        </p:nvSpPr>
        <p:spPr>
          <a:xfrm>
            <a:off x="4953000" y="3937000"/>
            <a:ext cx="3175000" cy="2286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207000" y="4191000"/>
            <a:ext cx="508000" cy="508000"/>
          </a:xfrm>
          <a:prstGeom prst="rect">
            <a:avLst/>
          </a:prstGeom>
        </p:spPr>
      </p:pic>
      <p:sp>
        <p:nvSpPr>
          <p:cNvPr id="20" name="AutoShape 20"/>
          <p:cNvSpPr/>
          <p:nvPr/>
        </p:nvSpPr>
        <p:spPr>
          <a:xfrm>
            <a:off x="5969000" y="4254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Cost-Effective Solution</a:t>
            </a:r>
            <a:endParaRPr lang="en-US" sz="1100"/>
          </a:p>
        </p:txBody>
      </p:sp>
      <p:sp>
        <p:nvSpPr>
          <p:cNvPr id="21" name="AutoShape 21"/>
          <p:cNvSpPr/>
          <p:nvPr/>
        </p:nvSpPr>
        <p:spPr>
          <a:xfrm>
            <a:off x="5207000" y="4953000"/>
            <a:ext cx="2667000" cy="1016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6B7280"/>
                </a:solidFill>
                <a:latin typeface="Poppins"/>
                <a:ea typeface="Poppins"/>
                <a:cs typeface="Poppins"/>
                <a:sym typeface="Poppins"/>
              </a:rPr>
              <a:t>Strategically utilize the AWS Free Tier to achieve zero operational cost while ensuring full functionality.</a:t>
            </a:r>
            <a:endParaRPr lang="en-US" sz="1100"/>
          </a:p>
        </p:txBody>
      </p:sp>
      <p:sp>
        <p:nvSpPr>
          <p:cNvPr id="22" name="AutoShape 22"/>
          <p:cNvSpPr/>
          <p:nvPr/>
        </p:nvSpPr>
        <p:spPr>
          <a:xfrm>
            <a:off x="8382000" y="3937000"/>
            <a:ext cx="3175000" cy="2286000"/>
          </a:xfrm>
          <a:prstGeom prst="roundRect">
            <a:avLst>
              <a:gd name="adj" fmla="val 6666"/>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36000" y="4191000"/>
            <a:ext cx="508000" cy="508000"/>
          </a:xfrm>
          <a:prstGeom prst="rect">
            <a:avLst/>
          </a:prstGeom>
        </p:spPr>
      </p:pic>
      <p:sp>
        <p:nvSpPr>
          <p:cNvPr id="24" name="AutoShape 24"/>
          <p:cNvSpPr/>
          <p:nvPr/>
        </p:nvSpPr>
        <p:spPr>
          <a:xfrm>
            <a:off x="9398000" y="4254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Rich Feature Set</a:t>
            </a:r>
            <a:endParaRPr lang="en-US" sz="1100"/>
          </a:p>
        </p:txBody>
      </p:sp>
      <p:sp>
        <p:nvSpPr>
          <p:cNvPr id="25" name="AutoShape 25"/>
          <p:cNvSpPr/>
          <p:nvPr/>
        </p:nvSpPr>
        <p:spPr>
          <a:xfrm>
            <a:off x="8636000" y="4953000"/>
            <a:ext cx="2667000" cy="1016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6B7280"/>
                </a:solidFill>
                <a:latin typeface="Poppins"/>
                <a:ea typeface="Poppins"/>
                <a:cs typeface="Poppins"/>
                <a:sym typeface="Poppins"/>
              </a:rPr>
              <a:t>Integrate a comprehensive suite including AI-powered chat, automated reminders, and practical utility tools.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Technical Architecture</a:t>
            </a:r>
            <a:endParaRPr lang="en-US" sz="1100"/>
          </a:p>
        </p:txBody>
      </p:sp>
      <p:sp>
        <p:nvSpPr>
          <p:cNvPr id="3" name="AutoShape 3"/>
          <p:cNvSpPr/>
          <p:nvPr/>
        </p:nvSpPr>
        <p:spPr>
          <a:xfrm>
            <a:off x="1016000" y="1397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7280"/>
                </a:solidFill>
                <a:latin typeface="Poppins"/>
                <a:ea typeface="Poppins"/>
                <a:cs typeface="Poppins"/>
                <a:sym typeface="Poppins"/>
              </a:rPr>
              <a:t>A Five-Layer System Design</a:t>
            </a:r>
            <a:endParaRPr lang="en-US" sz="1100"/>
          </a:p>
        </p:txBody>
      </p:sp>
      <p:sp>
        <p:nvSpPr>
          <p:cNvPr id="4" name="AutoShape 4"/>
          <p:cNvSpPr/>
          <p:nvPr/>
        </p:nvSpPr>
        <p:spPr>
          <a:xfrm>
            <a:off x="1016000" y="190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9CA3AF"/>
                </a:solidFill>
                <a:latin typeface="Poppins"/>
                <a:ea typeface="Poppins"/>
                <a:cs typeface="Poppins"/>
                <a:sym typeface="Poppins"/>
              </a:rPr>
              <a:t>Our system is built on a modular, layered architecture for maintainability and scalability, ensuring clear separation of concerns across all components.</a:t>
            </a:r>
            <a:endParaRPr lang="en-US" sz="1100"/>
          </a:p>
        </p:txBody>
      </p:sp>
      <p:sp>
        <p:nvSpPr>
          <p:cNvPr id="5" name="AutoShape 5"/>
          <p:cNvSpPr/>
          <p:nvPr/>
        </p:nvSpPr>
        <p:spPr>
          <a:xfrm>
            <a:off x="1016000" y="2540000"/>
            <a:ext cx="3175000" cy="1651000"/>
          </a:xfrm>
          <a:prstGeom prst="roundRect">
            <a:avLst>
              <a:gd name="adj" fmla="val 9230"/>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1016000" y="2540000"/>
            <a:ext cx="76200" cy="1651000"/>
          </a:xfrm>
          <a:prstGeom prst="roundRect">
            <a:avLst>
              <a:gd name="adj" fmla="val 200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346200" y="2794000"/>
            <a:ext cx="711200" cy="7112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0" y="2971800"/>
            <a:ext cx="355600" cy="355600"/>
          </a:xfrm>
          <a:prstGeom prst="rect">
            <a:avLst/>
          </a:prstGeom>
        </p:spPr>
      </p:pic>
      <p:sp>
        <p:nvSpPr>
          <p:cNvPr id="9" name="AutoShape 9"/>
          <p:cNvSpPr/>
          <p:nvPr/>
        </p:nvSpPr>
        <p:spPr>
          <a:xfrm>
            <a:off x="2286000" y="27940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Poppins"/>
                <a:ea typeface="Poppins"/>
                <a:cs typeface="Poppins"/>
                <a:sym typeface="Poppins"/>
              </a:rPr>
              <a:t>User Layer</a:t>
            </a:r>
            <a:endParaRPr lang="en-US" sz="1100"/>
          </a:p>
        </p:txBody>
      </p:sp>
      <p:sp>
        <p:nvSpPr>
          <p:cNvPr id="10" name="AutoShape 10"/>
          <p:cNvSpPr/>
          <p:nvPr/>
        </p:nvSpPr>
        <p:spPr>
          <a:xfrm>
            <a:off x="2286000" y="3238500"/>
            <a:ext cx="17145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Poppins"/>
                <a:ea typeface="Poppins"/>
                <a:cs typeface="Poppins"/>
                <a:sym typeface="Poppins"/>
              </a:rPr>
              <a:t>Telegram users interacting via the bot interface, initiating commands and queries.</a:t>
            </a:r>
            <a:endParaRPr lang="en-US" sz="1100"/>
          </a:p>
        </p:txBody>
      </p:sp>
      <p:sp>
        <p:nvSpPr>
          <p:cNvPr id="11" name="AutoShape 11"/>
          <p:cNvSpPr/>
          <p:nvPr/>
        </p:nvSpPr>
        <p:spPr>
          <a:xfrm>
            <a:off x="4508500" y="2540000"/>
            <a:ext cx="3175000" cy="1651000"/>
          </a:xfrm>
          <a:prstGeom prst="roundRect">
            <a:avLst>
              <a:gd name="adj" fmla="val 9230"/>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4508500" y="2540000"/>
            <a:ext cx="76200" cy="1651000"/>
          </a:xfrm>
          <a:prstGeom prst="roundRect">
            <a:avLst>
              <a:gd name="adj" fmla="val 200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838700" y="2794000"/>
            <a:ext cx="711200" cy="7112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16500" y="2971800"/>
            <a:ext cx="355600" cy="355600"/>
          </a:xfrm>
          <a:prstGeom prst="rect">
            <a:avLst/>
          </a:prstGeom>
        </p:spPr>
      </p:pic>
      <p:sp>
        <p:nvSpPr>
          <p:cNvPr id="15" name="AutoShape 15"/>
          <p:cNvSpPr/>
          <p:nvPr/>
        </p:nvSpPr>
        <p:spPr>
          <a:xfrm>
            <a:off x="5778500" y="27940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Poppins"/>
                <a:ea typeface="Poppins"/>
                <a:cs typeface="Poppins"/>
                <a:sym typeface="Poppins"/>
              </a:rPr>
              <a:t>Bot Layer</a:t>
            </a:r>
            <a:endParaRPr lang="en-US" sz="1100"/>
          </a:p>
        </p:txBody>
      </p:sp>
      <p:sp>
        <p:nvSpPr>
          <p:cNvPr id="16" name="AutoShape 16"/>
          <p:cNvSpPr/>
          <p:nvPr/>
        </p:nvSpPr>
        <p:spPr>
          <a:xfrm>
            <a:off x="5778500" y="3238500"/>
            <a:ext cx="17145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Poppins"/>
                <a:ea typeface="Poppins"/>
                <a:cs typeface="Poppins"/>
                <a:sym typeface="Poppins"/>
              </a:rPr>
              <a:t>Core logic in `chatbot.py` handling user intents, session states and interaction flows.</a:t>
            </a:r>
            <a:endParaRPr lang="en-US" sz="1100"/>
          </a:p>
        </p:txBody>
      </p:sp>
      <p:sp>
        <p:nvSpPr>
          <p:cNvPr id="17" name="AutoShape 17"/>
          <p:cNvSpPr/>
          <p:nvPr/>
        </p:nvSpPr>
        <p:spPr>
          <a:xfrm>
            <a:off x="8001000" y="2540000"/>
            <a:ext cx="3175000" cy="1651000"/>
          </a:xfrm>
          <a:prstGeom prst="roundRect">
            <a:avLst>
              <a:gd name="adj" fmla="val 9230"/>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8001000" y="2540000"/>
            <a:ext cx="76200" cy="1651000"/>
          </a:xfrm>
          <a:prstGeom prst="roundRect">
            <a:avLst>
              <a:gd name="adj" fmla="val 200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331200" y="2794000"/>
            <a:ext cx="711200" cy="7112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09000" y="2971800"/>
            <a:ext cx="355600" cy="355600"/>
          </a:xfrm>
          <a:prstGeom prst="rect">
            <a:avLst/>
          </a:prstGeom>
        </p:spPr>
      </p:pic>
      <p:sp>
        <p:nvSpPr>
          <p:cNvPr id="21" name="AutoShape 21"/>
          <p:cNvSpPr/>
          <p:nvPr/>
        </p:nvSpPr>
        <p:spPr>
          <a:xfrm>
            <a:off x="9271000" y="27940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Poppins"/>
                <a:ea typeface="Poppins"/>
                <a:cs typeface="Poppins"/>
                <a:sym typeface="Poppins"/>
              </a:rPr>
              <a:t>API Layer</a:t>
            </a:r>
            <a:endParaRPr lang="en-US" sz="1100"/>
          </a:p>
        </p:txBody>
      </p:sp>
      <p:sp>
        <p:nvSpPr>
          <p:cNvPr id="22" name="AutoShape 22"/>
          <p:cNvSpPr/>
          <p:nvPr/>
        </p:nvSpPr>
        <p:spPr>
          <a:xfrm>
            <a:off x="9271000" y="3238500"/>
            <a:ext cx="17145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Poppins"/>
                <a:ea typeface="Poppins"/>
                <a:cs typeface="Poppins"/>
                <a:sym typeface="Poppins"/>
              </a:rPr>
              <a:t>Seamless integration with the HKBU LLM API to generate context-aware intelligent responses.</a:t>
            </a:r>
            <a:endParaRPr lang="en-US" sz="1100"/>
          </a:p>
        </p:txBody>
      </p:sp>
      <p:sp>
        <p:nvSpPr>
          <p:cNvPr id="23" name="AutoShape 23"/>
          <p:cNvSpPr/>
          <p:nvPr/>
        </p:nvSpPr>
        <p:spPr>
          <a:xfrm>
            <a:off x="1016000" y="4572000"/>
            <a:ext cx="5080000" cy="1524000"/>
          </a:xfrm>
          <a:prstGeom prst="roundRect">
            <a:avLst>
              <a:gd name="adj" fmla="val 10000"/>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24" name="AutoShape 24"/>
          <p:cNvSpPr/>
          <p:nvPr/>
        </p:nvSpPr>
        <p:spPr>
          <a:xfrm>
            <a:off x="1016000" y="4572000"/>
            <a:ext cx="76200" cy="1524000"/>
          </a:xfrm>
          <a:prstGeom prst="roundRect">
            <a:avLst>
              <a:gd name="adj" fmla="val 200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346200" y="4826000"/>
            <a:ext cx="711200" cy="7112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524000" y="5003800"/>
            <a:ext cx="355600" cy="355600"/>
          </a:xfrm>
          <a:prstGeom prst="rect">
            <a:avLst/>
          </a:prstGeom>
        </p:spPr>
      </p:pic>
      <p:sp>
        <p:nvSpPr>
          <p:cNvPr id="27" name="AutoShape 27"/>
          <p:cNvSpPr/>
          <p:nvPr/>
        </p:nvSpPr>
        <p:spPr>
          <a:xfrm>
            <a:off x="2286000" y="4826000"/>
            <a:ext cx="355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Poppins"/>
                <a:ea typeface="Poppins"/>
                <a:cs typeface="Poppins"/>
                <a:sym typeface="Poppins"/>
              </a:rPr>
              <a:t>Data Layer: Persistent Storage</a:t>
            </a:r>
            <a:endParaRPr lang="en-US" sz="1100"/>
          </a:p>
        </p:txBody>
      </p:sp>
      <p:sp>
        <p:nvSpPr>
          <p:cNvPr id="28" name="AutoShape 28"/>
          <p:cNvSpPr/>
          <p:nvPr/>
        </p:nvSpPr>
        <p:spPr>
          <a:xfrm>
            <a:off x="2286000" y="52705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Poppins"/>
                <a:ea typeface="Poppins"/>
                <a:cs typeface="Poppins"/>
                <a:sym typeface="Poppins"/>
              </a:rPr>
              <a:t>Utilizes AWS ElastiCache (Redis) for secure, fast, and persistent storage of user conversation history and preferences.</a:t>
            </a:r>
            <a:endParaRPr lang="en-US" sz="1100"/>
          </a:p>
        </p:txBody>
      </p:sp>
      <p:sp>
        <p:nvSpPr>
          <p:cNvPr id="29" name="AutoShape 29"/>
          <p:cNvSpPr/>
          <p:nvPr/>
        </p:nvSpPr>
        <p:spPr>
          <a:xfrm>
            <a:off x="6286500" y="4572000"/>
            <a:ext cx="4889500" cy="1524000"/>
          </a:xfrm>
          <a:prstGeom prst="roundRect">
            <a:avLst>
              <a:gd name="adj" fmla="val 10000"/>
            </a:avLst>
          </a:prstGeom>
          <a:solidFill>
            <a:srgbClr val="F9FAFB">
              <a:alpha val="100000"/>
            </a:srgbClr>
          </a:solidFill>
          <a:ln w="12700" cap="flat" cmpd="sng">
            <a:solidFill>
              <a:srgbClr val="E5E7EB">
                <a:alpha val="10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30" name="AutoShape 30"/>
          <p:cNvSpPr/>
          <p:nvPr/>
        </p:nvSpPr>
        <p:spPr>
          <a:xfrm>
            <a:off x="6286500" y="4572000"/>
            <a:ext cx="76200" cy="1524000"/>
          </a:xfrm>
          <a:prstGeom prst="roundRect">
            <a:avLst>
              <a:gd name="adj" fmla="val 200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616700" y="4826000"/>
            <a:ext cx="711200" cy="7112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94500" y="5003800"/>
            <a:ext cx="355600" cy="355600"/>
          </a:xfrm>
          <a:prstGeom prst="rect">
            <a:avLst/>
          </a:prstGeom>
        </p:spPr>
      </p:pic>
      <p:sp>
        <p:nvSpPr>
          <p:cNvPr id="33" name="AutoShape 33"/>
          <p:cNvSpPr/>
          <p:nvPr/>
        </p:nvSpPr>
        <p:spPr>
          <a:xfrm>
            <a:off x="7556500" y="4826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Poppins"/>
                <a:ea typeface="Poppins"/>
                <a:cs typeface="Poppins"/>
                <a:sym typeface="Poppins"/>
              </a:rPr>
              <a:t>Deployment Layer: Cloud Infrastructure</a:t>
            </a:r>
            <a:endParaRPr lang="en-US" sz="1100"/>
          </a:p>
        </p:txBody>
      </p:sp>
      <p:sp>
        <p:nvSpPr>
          <p:cNvPr id="34" name="AutoShape 34"/>
          <p:cNvSpPr/>
          <p:nvPr/>
        </p:nvSpPr>
        <p:spPr>
          <a:xfrm>
            <a:off x="7556500" y="52705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Poppins"/>
                <a:ea typeface="Poppins"/>
                <a:cs typeface="Poppins"/>
                <a:sym typeface="Poppins"/>
              </a:rPr>
              <a:t>Application containerized with Docker and hosted on an AWS EC2 instance for reliable, scalable production deployment.</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Core Technologies</a:t>
            </a:r>
            <a:endParaRPr lang="en-US" sz="1100"/>
          </a:p>
        </p:txBody>
      </p:sp>
      <p:sp>
        <p:nvSpPr>
          <p:cNvPr id="3" name="AutoShape 3"/>
          <p:cNvSpPr/>
          <p:nvPr/>
        </p:nvSpPr>
        <p:spPr>
          <a:xfrm>
            <a:off x="1016000" y="1397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7280"/>
                </a:solidFill>
                <a:latin typeface="Poppins"/>
                <a:ea typeface="Poppins"/>
                <a:cs typeface="Poppins"/>
                <a:sym typeface="Poppins"/>
              </a:rPr>
              <a:t>Powering the Chatbot Infrastructure</a:t>
            </a:r>
            <a:endParaRPr lang="en-US" sz="1100"/>
          </a:p>
        </p:txBody>
      </p:sp>
      <p:sp>
        <p:nvSpPr>
          <p:cNvPr id="4" name="AutoShape 4"/>
          <p:cNvSpPr/>
          <p:nvPr/>
        </p:nvSpPr>
        <p:spPr>
          <a:xfrm>
            <a:off x="1016000" y="2032000"/>
            <a:ext cx="3175000" cy="1778000"/>
          </a:xfrm>
          <a:prstGeom prst="roundRect">
            <a:avLst>
              <a:gd name="adj" fmla="val 8571"/>
            </a:avLst>
          </a:prstGeom>
          <a:solidFill>
            <a:srgbClr val="F9FAFB">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219200" y="2286000"/>
            <a:ext cx="711200" cy="711200"/>
          </a:xfrm>
          <a:prstGeom prst="ellipse">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22400" y="2489200"/>
            <a:ext cx="304800" cy="304800"/>
          </a:xfrm>
          <a:prstGeom prst="rect">
            <a:avLst/>
          </a:prstGeom>
        </p:spPr>
      </p:pic>
      <p:sp>
        <p:nvSpPr>
          <p:cNvPr id="7" name="AutoShape 7"/>
          <p:cNvSpPr/>
          <p:nvPr/>
        </p:nvSpPr>
        <p:spPr>
          <a:xfrm>
            <a:off x="2133600" y="23114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B82F6"/>
                </a:solidFill>
                <a:latin typeface="Poppins"/>
                <a:ea typeface="Poppins"/>
                <a:cs typeface="Poppins"/>
                <a:sym typeface="Poppins"/>
              </a:rPr>
              <a:t>AWS EC2</a:t>
            </a:r>
            <a:endParaRPr lang="en-US" sz="1100"/>
          </a:p>
        </p:txBody>
      </p:sp>
      <p:sp>
        <p:nvSpPr>
          <p:cNvPr id="8" name="AutoShape 8"/>
          <p:cNvSpPr/>
          <p:nvPr/>
        </p:nvSpPr>
        <p:spPr>
          <a:xfrm>
            <a:off x="2133600" y="2794000"/>
            <a:ext cx="18415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Poppins"/>
                <a:ea typeface="Poppins"/>
                <a:cs typeface="Poppins"/>
                <a:sym typeface="Poppins"/>
              </a:rPr>
              <a:t>Provides a</a:t>
            </a:r>
            <a:r>
              <a:rPr lang="en-US" sz="1100" b="1" i="0" u="none" strike="noStrike">
                <a:solidFill>
                  <a:srgbClr val="4B5563"/>
                </a:solidFill>
                <a:latin typeface="Poppins"/>
                <a:ea typeface="Poppins"/>
                <a:cs typeface="Poppins"/>
                <a:sym typeface="Poppins"/>
              </a:rPr>
              <a:t>t4g.micro</a:t>
            </a:r>
            <a:r>
              <a:rPr lang="en-US" sz="1100" b="0" i="0" u="none" strike="noStrike">
                <a:solidFill>
                  <a:srgbClr val="4B5563"/>
                </a:solidFill>
                <a:latin typeface="Poppins"/>
                <a:ea typeface="Poppins"/>
                <a:cs typeface="Poppins"/>
                <a:sym typeface="Poppins"/>
              </a:rPr>
              <a:t>virtual server to host the core application securely and efficiently.</a:t>
            </a:r>
            <a:endParaRPr lang="en-US" sz="1100"/>
          </a:p>
        </p:txBody>
      </p:sp>
      <p:sp>
        <p:nvSpPr>
          <p:cNvPr id="9" name="AutoShape 9"/>
          <p:cNvSpPr/>
          <p:nvPr/>
        </p:nvSpPr>
        <p:spPr>
          <a:xfrm>
            <a:off x="4445000" y="2032000"/>
            <a:ext cx="3175000" cy="1778000"/>
          </a:xfrm>
          <a:prstGeom prst="roundRect">
            <a:avLst>
              <a:gd name="adj" fmla="val 8571"/>
            </a:avLst>
          </a:prstGeom>
          <a:solidFill>
            <a:srgbClr val="F9FAFB">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648200" y="2286000"/>
            <a:ext cx="711200" cy="711200"/>
          </a:xfrm>
          <a:prstGeom prst="ellipse">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51400" y="2489200"/>
            <a:ext cx="304800" cy="304800"/>
          </a:xfrm>
          <a:prstGeom prst="rect">
            <a:avLst/>
          </a:prstGeom>
        </p:spPr>
      </p:pic>
      <p:sp>
        <p:nvSpPr>
          <p:cNvPr id="12" name="AutoShape 12"/>
          <p:cNvSpPr/>
          <p:nvPr/>
        </p:nvSpPr>
        <p:spPr>
          <a:xfrm>
            <a:off x="5562600" y="23114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B82F6"/>
                </a:solidFill>
                <a:latin typeface="Poppins"/>
                <a:ea typeface="Poppins"/>
                <a:cs typeface="Poppins"/>
                <a:sym typeface="Poppins"/>
              </a:rPr>
              <a:t>Docker</a:t>
            </a:r>
            <a:endParaRPr lang="en-US" sz="1100"/>
          </a:p>
        </p:txBody>
      </p:sp>
      <p:sp>
        <p:nvSpPr>
          <p:cNvPr id="13" name="AutoShape 13"/>
          <p:cNvSpPr/>
          <p:nvPr/>
        </p:nvSpPr>
        <p:spPr>
          <a:xfrm>
            <a:off x="5562600" y="2794000"/>
            <a:ext cx="18415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Poppins"/>
                <a:ea typeface="Poppins"/>
                <a:cs typeface="Poppins"/>
                <a:sym typeface="Poppins"/>
              </a:rPr>
              <a:t>Containerizes the app to ensure consistency across development, testing, and production.</a:t>
            </a:r>
            <a:endParaRPr lang="en-US" sz="1100"/>
          </a:p>
        </p:txBody>
      </p:sp>
      <p:sp>
        <p:nvSpPr>
          <p:cNvPr id="14" name="AutoShape 14"/>
          <p:cNvSpPr/>
          <p:nvPr/>
        </p:nvSpPr>
        <p:spPr>
          <a:xfrm>
            <a:off x="7874000" y="2032000"/>
            <a:ext cx="3175000" cy="1778000"/>
          </a:xfrm>
          <a:prstGeom prst="roundRect">
            <a:avLst>
              <a:gd name="adj" fmla="val 8571"/>
            </a:avLst>
          </a:prstGeom>
          <a:solidFill>
            <a:srgbClr val="F9FAFB">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077200" y="2286000"/>
            <a:ext cx="711200" cy="711200"/>
          </a:xfrm>
          <a:prstGeom prst="ellipse">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80400" y="2489200"/>
            <a:ext cx="304800" cy="304800"/>
          </a:xfrm>
          <a:prstGeom prst="rect">
            <a:avLst/>
          </a:prstGeom>
        </p:spPr>
      </p:pic>
      <p:sp>
        <p:nvSpPr>
          <p:cNvPr id="17" name="AutoShape 17"/>
          <p:cNvSpPr/>
          <p:nvPr/>
        </p:nvSpPr>
        <p:spPr>
          <a:xfrm>
            <a:off x="8991600" y="23114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B82F6"/>
                </a:solidFill>
                <a:latin typeface="Poppins"/>
                <a:ea typeface="Poppins"/>
                <a:cs typeface="Poppins"/>
                <a:sym typeface="Poppins"/>
              </a:rPr>
              <a:t>Redis Cache</a:t>
            </a:r>
            <a:endParaRPr lang="en-US" sz="1100"/>
          </a:p>
        </p:txBody>
      </p:sp>
      <p:sp>
        <p:nvSpPr>
          <p:cNvPr id="18" name="AutoShape 18"/>
          <p:cNvSpPr/>
          <p:nvPr/>
        </p:nvSpPr>
        <p:spPr>
          <a:xfrm>
            <a:off x="8991600" y="2794000"/>
            <a:ext cx="18415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altLang="zh-CN" sz="1100" b="0" i="0" u="none" strike="noStrike" dirty="0">
                <a:solidFill>
                  <a:srgbClr val="666666"/>
                </a:solidFill>
                <a:latin typeface="Poppins"/>
                <a:ea typeface="Poppins"/>
                <a:cs typeface="Poppins"/>
                <a:sym typeface="Poppins"/>
              </a:rPr>
              <a:t>In-memory data store for lightning-fast access to user sessions and chat history.</a:t>
            </a:r>
            <a:endParaRPr lang="en-US" altLang="zh-CN" sz="1100" dirty="0"/>
          </a:p>
        </p:txBody>
      </p:sp>
      <p:sp>
        <p:nvSpPr>
          <p:cNvPr id="19" name="AutoShape 19"/>
          <p:cNvSpPr/>
          <p:nvPr/>
        </p:nvSpPr>
        <p:spPr>
          <a:xfrm>
            <a:off x="1016000" y="4191000"/>
            <a:ext cx="4953000" cy="1651000"/>
          </a:xfrm>
          <a:prstGeom prst="roundRect">
            <a:avLst>
              <a:gd name="adj" fmla="val 9230"/>
            </a:avLst>
          </a:prstGeom>
          <a:solidFill>
            <a:srgbClr val="F9FAFB">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1219200" y="4445000"/>
            <a:ext cx="762000" cy="762000"/>
          </a:xfrm>
          <a:prstGeom prst="ellipse">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447800" y="4673600"/>
            <a:ext cx="304800" cy="304800"/>
          </a:xfrm>
          <a:prstGeom prst="rect">
            <a:avLst/>
          </a:prstGeom>
        </p:spPr>
      </p:pic>
      <p:sp>
        <p:nvSpPr>
          <p:cNvPr id="22" name="AutoShape 22"/>
          <p:cNvSpPr/>
          <p:nvPr/>
        </p:nvSpPr>
        <p:spPr>
          <a:xfrm>
            <a:off x="2235200" y="4445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B82F6"/>
                </a:solidFill>
                <a:latin typeface="Poppins"/>
                <a:ea typeface="Poppins"/>
                <a:cs typeface="Poppins"/>
                <a:sym typeface="Poppins"/>
              </a:rPr>
              <a:t>Telegram Bot API</a:t>
            </a:r>
            <a:endParaRPr lang="en-US" sz="1100"/>
          </a:p>
        </p:txBody>
      </p:sp>
      <p:sp>
        <p:nvSpPr>
          <p:cNvPr id="23" name="AutoShape 23"/>
          <p:cNvSpPr/>
          <p:nvPr/>
        </p:nvSpPr>
        <p:spPr>
          <a:xfrm>
            <a:off x="2235200" y="4953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Poppins"/>
                <a:ea typeface="Poppins"/>
                <a:cs typeface="Poppins"/>
                <a:sym typeface="Poppins"/>
              </a:rPr>
              <a:t>Serves as the front-end user interface, handling message reception, delivery, and inline query interactions.</a:t>
            </a:r>
            <a:endParaRPr lang="en-US" sz="1100"/>
          </a:p>
        </p:txBody>
      </p:sp>
      <p:sp>
        <p:nvSpPr>
          <p:cNvPr id="24" name="AutoShape 24"/>
          <p:cNvSpPr/>
          <p:nvPr/>
        </p:nvSpPr>
        <p:spPr>
          <a:xfrm>
            <a:off x="6223000" y="4191000"/>
            <a:ext cx="4953000" cy="1651000"/>
          </a:xfrm>
          <a:prstGeom prst="roundRect">
            <a:avLst>
              <a:gd name="adj" fmla="val 9230"/>
            </a:avLst>
          </a:prstGeom>
          <a:solidFill>
            <a:srgbClr val="F9FAFB">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6426200" y="4445000"/>
            <a:ext cx="762000" cy="762000"/>
          </a:xfrm>
          <a:prstGeom prst="ellipse">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54800" y="4673600"/>
            <a:ext cx="304800" cy="304800"/>
          </a:xfrm>
          <a:prstGeom prst="rect">
            <a:avLst/>
          </a:prstGeom>
        </p:spPr>
      </p:pic>
      <p:sp>
        <p:nvSpPr>
          <p:cNvPr id="27" name="AutoShape 27"/>
          <p:cNvSpPr/>
          <p:nvPr/>
        </p:nvSpPr>
        <p:spPr>
          <a:xfrm>
            <a:off x="7442200" y="4445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B82F6"/>
                </a:solidFill>
                <a:latin typeface="Poppins"/>
                <a:ea typeface="Poppins"/>
                <a:cs typeface="Poppins"/>
                <a:sym typeface="Poppins"/>
              </a:rPr>
              <a:t>HKBU LLM API</a:t>
            </a:r>
            <a:endParaRPr lang="en-US" sz="1100"/>
          </a:p>
        </p:txBody>
      </p:sp>
      <p:sp>
        <p:nvSpPr>
          <p:cNvPr id="28" name="AutoShape 28"/>
          <p:cNvSpPr/>
          <p:nvPr/>
        </p:nvSpPr>
        <p:spPr>
          <a:xfrm>
            <a:off x="7442200" y="49530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Poppins"/>
                <a:ea typeface="Poppins"/>
                <a:cs typeface="Poppins"/>
                <a:sym typeface="Poppins"/>
              </a:rPr>
              <a:t>The "brain" of the chatbot, enabling sophisticated natural language understanding (NLU) and context-aware response generation.</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Feature Showcase: AI Chat &amp; History</a:t>
            </a:r>
            <a:endParaRPr lang="en-US" sz="1100"/>
          </a:p>
        </p:txBody>
      </p:sp>
      <p:sp>
        <p:nvSpPr>
          <p:cNvPr id="3" name="AutoShape 3"/>
          <p:cNvSpPr/>
          <p:nvPr/>
        </p:nvSpPr>
        <p:spPr>
          <a:xfrm>
            <a:off x="1016000" y="1397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3B82F6"/>
                </a:solidFill>
                <a:latin typeface="Poppins"/>
                <a:ea typeface="Poppins"/>
                <a:cs typeface="Poppins"/>
                <a:sym typeface="Poppins"/>
              </a:rPr>
              <a:t>Intelligent Conversation &amp; Memory</a:t>
            </a:r>
            <a:endParaRPr lang="en-US" sz="1100"/>
          </a:p>
        </p:txBody>
      </p:sp>
      <p:pic>
        <p:nvPicPr>
          <p:cNvPr id="4" name="Picture 4"/>
          <p:cNvPicPr>
            <a:picLocks noChangeAspect="1"/>
          </p:cNvPicPr>
          <p:nvPr/>
        </p:nvPicPr>
        <p:blipFill>
          <a:blip r:embed="rId3"/>
          <a:srcRect t="12556" b="12556"/>
          <a:stretch>
            <a:fillRect/>
          </a:stretch>
        </p:blipFill>
        <p:spPr>
          <a:xfrm>
            <a:off x="1016000" y="2032000"/>
            <a:ext cx="2794000" cy="4191000"/>
          </a:xfrm>
          <a:prstGeom prst="roundRect">
            <a:avLst>
              <a:gd name="adj" fmla="val 7272"/>
            </a:avLst>
          </a:prstGeom>
          <a:noFill/>
          <a:ln w="25400" cap="flat" cmpd="sng">
            <a:noFill/>
            <a:prstDash val="solid"/>
            <a:round/>
          </a:ln>
          <a:effectLst>
            <a:outerShdw blurRad="254000" dist="63500" dir="5400000" algn="tl" rotWithShape="0">
              <a:srgbClr val="000000">
                <a:alpha val="10000"/>
              </a:srgbClr>
            </a:outerShdw>
          </a:effectLst>
        </p:spPr>
      </p:pic>
      <p:sp>
        <p:nvSpPr>
          <p:cNvPr id="5" name="AutoShape 5"/>
          <p:cNvSpPr/>
          <p:nvPr/>
        </p:nvSpPr>
        <p:spPr>
          <a:xfrm>
            <a:off x="4191000" y="2032000"/>
            <a:ext cx="6985000" cy="1270000"/>
          </a:xfrm>
          <a:prstGeom prst="roundRect">
            <a:avLst>
              <a:gd name="adj" fmla="val 12000"/>
            </a:avLst>
          </a:prstGeom>
          <a:solidFill>
            <a:srgbClr val="F9FAFB">
              <a:alpha val="100000"/>
            </a:srgbClr>
          </a:solidFill>
          <a:ln w="25400" cap="flat" cmpd="sng">
            <a:noFill/>
            <a:prstDash val="solid"/>
            <a:round/>
          </a:ln>
          <a:effectLst>
            <a:outerShdw blurRad="1905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45000" y="2362200"/>
            <a:ext cx="609600" cy="609600"/>
          </a:xfrm>
          <a:prstGeom prst="rect">
            <a:avLst/>
          </a:prstGeom>
        </p:spPr>
      </p:pic>
      <p:sp>
        <p:nvSpPr>
          <p:cNvPr id="7" name="AutoShape 7"/>
          <p:cNvSpPr/>
          <p:nvPr/>
        </p:nvSpPr>
        <p:spPr>
          <a:xfrm>
            <a:off x="5334000" y="22225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AI Chat: Powered by HKBU LLM</a:t>
            </a:r>
            <a:endParaRPr lang="en-US" sz="1100"/>
          </a:p>
        </p:txBody>
      </p:sp>
      <p:sp>
        <p:nvSpPr>
          <p:cNvPr id="8" name="AutoShape 8"/>
          <p:cNvSpPr/>
          <p:nvPr/>
        </p:nvSpPr>
        <p:spPr>
          <a:xfrm>
            <a:off x="5334000" y="26416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Poppins"/>
                <a:ea typeface="Poppins"/>
                <a:cs typeface="Poppins"/>
                <a:sym typeface="Poppins"/>
              </a:rPr>
              <a:t>The intelligent bot can assist with homework, explain complex concepts, proofread essays, and debug code efficiently.</a:t>
            </a:r>
            <a:endParaRPr lang="en-US" sz="1100"/>
          </a:p>
        </p:txBody>
      </p:sp>
      <p:sp>
        <p:nvSpPr>
          <p:cNvPr id="9" name="AutoShape 9"/>
          <p:cNvSpPr/>
          <p:nvPr/>
        </p:nvSpPr>
        <p:spPr>
          <a:xfrm>
            <a:off x="4191000" y="3556000"/>
            <a:ext cx="6985000" cy="1270000"/>
          </a:xfrm>
          <a:prstGeom prst="roundRect">
            <a:avLst>
              <a:gd name="adj" fmla="val 12000"/>
            </a:avLst>
          </a:prstGeom>
          <a:solidFill>
            <a:srgbClr val="F9FAFB">
              <a:alpha val="100000"/>
            </a:srgbClr>
          </a:solidFill>
          <a:ln w="25400" cap="flat" cmpd="sng">
            <a:noFill/>
            <a:prstDash val="solid"/>
            <a:round/>
          </a:ln>
          <a:effectLst>
            <a:outerShdw blurRad="1905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45000" y="3886200"/>
            <a:ext cx="609600" cy="609600"/>
          </a:xfrm>
          <a:prstGeom prst="rect">
            <a:avLst/>
          </a:prstGeom>
        </p:spPr>
      </p:pic>
      <p:sp>
        <p:nvSpPr>
          <p:cNvPr id="11" name="AutoShape 11"/>
          <p:cNvSpPr/>
          <p:nvPr/>
        </p:nvSpPr>
        <p:spPr>
          <a:xfrm>
            <a:off x="5334000" y="37465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Command: `/history`</a:t>
            </a:r>
            <a:endParaRPr lang="en-US" sz="1100"/>
          </a:p>
        </p:txBody>
      </p:sp>
      <p:sp>
        <p:nvSpPr>
          <p:cNvPr id="12" name="AutoShape 12"/>
          <p:cNvSpPr/>
          <p:nvPr/>
        </p:nvSpPr>
        <p:spPr>
          <a:xfrm>
            <a:off x="5334000" y="41656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Poppins"/>
                <a:ea typeface="Poppins"/>
                <a:cs typeface="Poppins"/>
                <a:sym typeface="Poppins"/>
              </a:rPr>
              <a:t>Users can retrieve and view their entire conversation log with the bot, enabling easy review of past interactions.</a:t>
            </a:r>
            <a:endParaRPr lang="en-US" sz="1100"/>
          </a:p>
        </p:txBody>
      </p:sp>
      <p:sp>
        <p:nvSpPr>
          <p:cNvPr id="13" name="AutoShape 13"/>
          <p:cNvSpPr/>
          <p:nvPr/>
        </p:nvSpPr>
        <p:spPr>
          <a:xfrm>
            <a:off x="4191000" y="5080000"/>
            <a:ext cx="6985000" cy="1270000"/>
          </a:xfrm>
          <a:prstGeom prst="roundRect">
            <a:avLst>
              <a:gd name="adj" fmla="val 12000"/>
            </a:avLst>
          </a:prstGeom>
          <a:solidFill>
            <a:srgbClr val="F9FAFB">
              <a:alpha val="100000"/>
            </a:srgbClr>
          </a:solidFill>
          <a:ln w="25400" cap="flat" cmpd="sng">
            <a:noFill/>
            <a:prstDash val="solid"/>
            <a:round/>
          </a:ln>
          <a:effectLst>
            <a:outerShdw blurRad="1905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445000" y="5410200"/>
            <a:ext cx="609600" cy="609600"/>
          </a:xfrm>
          <a:prstGeom prst="rect">
            <a:avLst/>
          </a:prstGeom>
        </p:spPr>
      </p:pic>
      <p:sp>
        <p:nvSpPr>
          <p:cNvPr id="15" name="AutoShape 15"/>
          <p:cNvSpPr/>
          <p:nvPr/>
        </p:nvSpPr>
        <p:spPr>
          <a:xfrm>
            <a:off x="5334000" y="52705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Command: `/clear`</a:t>
            </a:r>
            <a:endParaRPr lang="en-US" sz="1100"/>
          </a:p>
        </p:txBody>
      </p:sp>
      <p:sp>
        <p:nvSpPr>
          <p:cNvPr id="16" name="AutoShape 16"/>
          <p:cNvSpPr/>
          <p:nvPr/>
        </p:nvSpPr>
        <p:spPr>
          <a:xfrm>
            <a:off x="5334000" y="56896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Poppins"/>
                <a:ea typeface="Poppins"/>
                <a:cs typeface="Poppins"/>
                <a:sym typeface="Poppins"/>
              </a:rPr>
              <a:t>Provides users with the ability to clear their chat history at any time, prioritizing user privacy and data control.</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Feature Showcase: Reminders &amp; Utilities</a:t>
            </a:r>
            <a:endParaRPr lang="en-US" sz="1100"/>
          </a:p>
        </p:txBody>
      </p:sp>
      <p:sp>
        <p:nvSpPr>
          <p:cNvPr id="3" name="AutoShape 3"/>
          <p:cNvSpPr/>
          <p:nvPr/>
        </p:nvSpPr>
        <p:spPr>
          <a:xfrm>
            <a:off x="1016000" y="1397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7280"/>
                </a:solidFill>
                <a:latin typeface="Poppins"/>
                <a:ea typeface="Poppins"/>
                <a:cs typeface="Poppins"/>
                <a:sym typeface="Poppins"/>
              </a:rPr>
              <a:t>Beyond AI Chat: Practical Tools for Everyday Productivity</a:t>
            </a:r>
            <a:endParaRPr lang="en-US" sz="1100"/>
          </a:p>
        </p:txBody>
      </p:sp>
      <p:pic>
        <p:nvPicPr>
          <p:cNvPr id="4" name="Picture 4"/>
          <p:cNvPicPr>
            <a:picLocks noChangeAspect="1"/>
          </p:cNvPicPr>
          <p:nvPr/>
        </p:nvPicPr>
        <p:blipFill>
          <a:blip r:embed="rId3"/>
          <a:srcRect t="18364" b="18364"/>
          <a:stretch>
            <a:fillRect/>
          </a:stretch>
        </p:blipFill>
        <p:spPr>
          <a:xfrm>
            <a:off x="1016000" y="2032000"/>
            <a:ext cx="3302000" cy="4191000"/>
          </a:xfrm>
          <a:prstGeom prst="roundRect">
            <a:avLst>
              <a:gd name="adj" fmla="val 6153"/>
            </a:avLst>
          </a:prstGeom>
          <a:noFill/>
          <a:ln w="25400" cap="flat" cmpd="sng">
            <a:noFill/>
            <a:prstDash val="solid"/>
            <a:round/>
          </a:ln>
          <a:effectLst>
            <a:outerShdw blurRad="254000" dist="76200" dir="2700000" algn="tl" rotWithShape="0">
              <a:srgbClr val="000000">
                <a:alpha val="12000"/>
              </a:srgbClr>
            </a:outerShdw>
          </a:effectLst>
        </p:spPr>
      </p:pic>
      <p:sp>
        <p:nvSpPr>
          <p:cNvPr id="5" name="AutoShape 5"/>
          <p:cNvSpPr/>
          <p:nvPr/>
        </p:nvSpPr>
        <p:spPr>
          <a:xfrm>
            <a:off x="4572000" y="2032000"/>
            <a:ext cx="6604000" cy="1270000"/>
          </a:xfrm>
          <a:prstGeom prst="roundRect">
            <a:avLst>
              <a:gd name="adj" fmla="val 12000"/>
            </a:avLst>
          </a:prstGeom>
          <a:solidFill>
            <a:srgbClr val="EFF6FF">
              <a:alpha val="100000"/>
            </a:srgbClr>
          </a:solidFill>
          <a:ln w="25400" cap="flat" cmpd="sng">
            <a:noFill/>
            <a:prstDash val="solid"/>
            <a:round/>
          </a:ln>
          <a:effectLst>
            <a:outerShdw blurRad="152400" dist="50800" dir="2700000" algn="tl" rotWithShape="0">
              <a:srgbClr val="3B82F6">
                <a:alpha val="10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4826000" y="228600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16500" y="2476500"/>
            <a:ext cx="381000" cy="381000"/>
          </a:xfrm>
          <a:prstGeom prst="rect">
            <a:avLst/>
          </a:prstGeom>
        </p:spPr>
      </p:pic>
      <p:sp>
        <p:nvSpPr>
          <p:cNvPr id="8" name="AutoShape 8"/>
          <p:cNvSpPr/>
          <p:nvPr/>
        </p:nvSpPr>
        <p:spPr>
          <a:xfrm>
            <a:off x="5842000" y="2222500"/>
            <a:ext cx="508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 Reminder System</a:t>
            </a:r>
            <a:endParaRPr lang="en-US" sz="1100"/>
          </a:p>
        </p:txBody>
      </p:sp>
      <p:sp>
        <p:nvSpPr>
          <p:cNvPr id="9" name="AutoShape 9"/>
          <p:cNvSpPr/>
          <p:nvPr/>
        </p:nvSpPr>
        <p:spPr>
          <a:xfrm>
            <a:off x="5842000" y="2667000"/>
            <a:ext cx="5207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 `/remind [msg]`: Set a quick task reminder (supports natural language).</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`/reminders`: Fetch a full list of all currently active &amp; pending reminders.</a:t>
            </a:r>
            <a:endParaRPr lang="en-US" sz="1100"/>
          </a:p>
        </p:txBody>
      </p:sp>
      <p:sp>
        <p:nvSpPr>
          <p:cNvPr id="10" name="AutoShape 10"/>
          <p:cNvSpPr/>
          <p:nvPr/>
        </p:nvSpPr>
        <p:spPr>
          <a:xfrm>
            <a:off x="4572000" y="3556000"/>
            <a:ext cx="6604000" cy="1270000"/>
          </a:xfrm>
          <a:prstGeom prst="roundRect">
            <a:avLst>
              <a:gd name="adj" fmla="val 12000"/>
            </a:avLst>
          </a:prstGeom>
          <a:solidFill>
            <a:srgbClr val="EFF6FF">
              <a:alpha val="100000"/>
            </a:srgbClr>
          </a:solidFill>
          <a:ln w="25400" cap="flat" cmpd="sng">
            <a:noFill/>
            <a:prstDash val="solid"/>
            <a:round/>
          </a:ln>
          <a:effectLst>
            <a:outerShdw blurRad="152400" dist="50800" dir="2700000" algn="tl" rotWithShape="0">
              <a:srgbClr val="3B82F6">
                <a:alpha val="10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4826000" y="381000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16500" y="4000500"/>
            <a:ext cx="381000" cy="381000"/>
          </a:xfrm>
          <a:prstGeom prst="rect">
            <a:avLst/>
          </a:prstGeom>
        </p:spPr>
      </p:pic>
      <p:sp>
        <p:nvSpPr>
          <p:cNvPr id="13" name="AutoShape 13"/>
          <p:cNvSpPr/>
          <p:nvPr/>
        </p:nvSpPr>
        <p:spPr>
          <a:xfrm>
            <a:off x="5842000" y="3746500"/>
            <a:ext cx="508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 Daily Utilities</a:t>
            </a:r>
            <a:endParaRPr lang="en-US" sz="1100"/>
          </a:p>
        </p:txBody>
      </p:sp>
      <p:sp>
        <p:nvSpPr>
          <p:cNvPr id="14" name="AutoShape 14"/>
          <p:cNvSpPr/>
          <p:nvPr/>
        </p:nvSpPr>
        <p:spPr>
          <a:xfrm>
            <a:off x="5842000" y="4191000"/>
            <a:ext cx="5207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 `/weather`: Get the real-time weather forecast for Hong Kong (HK).</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`/time`: Instantly check the current local time &amp; full date information.</a:t>
            </a:r>
            <a:endParaRPr lang="en-US" sz="1100"/>
          </a:p>
        </p:txBody>
      </p:sp>
      <p:sp>
        <p:nvSpPr>
          <p:cNvPr id="15" name="AutoShape 15"/>
          <p:cNvSpPr/>
          <p:nvPr/>
        </p:nvSpPr>
        <p:spPr>
          <a:xfrm>
            <a:off x="4572000" y="5080000"/>
            <a:ext cx="6604000" cy="1270000"/>
          </a:xfrm>
          <a:prstGeom prst="roundRect">
            <a:avLst>
              <a:gd name="adj" fmla="val 12000"/>
            </a:avLst>
          </a:prstGeom>
          <a:solidFill>
            <a:srgbClr val="EFF6FF">
              <a:alpha val="100000"/>
            </a:srgbClr>
          </a:solidFill>
          <a:ln w="25400" cap="flat" cmpd="sng">
            <a:noFill/>
            <a:prstDash val="solid"/>
            <a:round/>
          </a:ln>
          <a:effectLst>
            <a:outerShdw blurRad="152400" dist="50800" dir="2700000" algn="tl" rotWithShape="0">
              <a:srgbClr val="3B82F6">
                <a:alpha val="10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4826000" y="533400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16500" y="5524500"/>
            <a:ext cx="381000" cy="381000"/>
          </a:xfrm>
          <a:prstGeom prst="rect">
            <a:avLst/>
          </a:prstGeom>
        </p:spPr>
      </p:pic>
      <p:sp>
        <p:nvSpPr>
          <p:cNvPr id="18" name="AutoShape 18"/>
          <p:cNvSpPr/>
          <p:nvPr/>
        </p:nvSpPr>
        <p:spPr>
          <a:xfrm>
            <a:off x="5842000" y="5270500"/>
            <a:ext cx="508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 Help &amp; Guidance</a:t>
            </a:r>
            <a:endParaRPr lang="en-US" sz="1100"/>
          </a:p>
        </p:txBody>
      </p:sp>
      <p:sp>
        <p:nvSpPr>
          <p:cNvPr id="19" name="AutoShape 19"/>
          <p:cNvSpPr/>
          <p:nvPr/>
        </p:nvSpPr>
        <p:spPr>
          <a:xfrm>
            <a:off x="5842000" y="5715000"/>
            <a:ext cx="5207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 `/start`: Trigger the initial welcome message &amp; setup introduction.</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`/help`: Display a comprehensive reference list of all available commands.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AWS Infrastructure in Action</a:t>
            </a:r>
            <a:endParaRPr lang="en-US" sz="1100"/>
          </a:p>
        </p:txBody>
      </p:sp>
      <p:sp>
        <p:nvSpPr>
          <p:cNvPr id="3" name="AutoShape 3"/>
          <p:cNvSpPr/>
          <p:nvPr/>
        </p:nvSpPr>
        <p:spPr>
          <a:xfrm>
            <a:off x="1016000" y="1397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B82F6"/>
                </a:solidFill>
                <a:latin typeface="Poppins"/>
                <a:ea typeface="Poppins"/>
                <a:cs typeface="Poppins"/>
                <a:sym typeface="Poppins"/>
              </a:rPr>
              <a:t>Proven Cloud Deployment</a:t>
            </a:r>
            <a:endParaRPr lang="en-US" sz="1100"/>
          </a:p>
        </p:txBody>
      </p:sp>
      <p:pic>
        <p:nvPicPr>
          <p:cNvPr id="4" name="Picture 4"/>
          <p:cNvPicPr>
            <a:picLocks noChangeAspect="1"/>
          </p:cNvPicPr>
          <p:nvPr/>
        </p:nvPicPr>
        <p:blipFill>
          <a:blip r:embed="rId3"/>
          <a:srcRect t="11156" b="11156"/>
          <a:stretch>
            <a:fillRect/>
          </a:stretch>
        </p:blipFill>
        <p:spPr>
          <a:xfrm>
            <a:off x="1016000" y="2032000"/>
            <a:ext cx="4826000" cy="2159000"/>
          </a:xfrm>
          <a:prstGeom prst="roundRect">
            <a:avLst>
              <a:gd name="adj" fmla="val 7058"/>
            </a:avLst>
          </a:prstGeom>
          <a:noFill/>
          <a:ln w="25400" cap="flat" cmpd="sng">
            <a:noFill/>
            <a:prstDash val="solid"/>
            <a:round/>
          </a:ln>
          <a:effectLst>
            <a:outerShdw blurRad="152400" dist="50800" dir="5400000" algn="tl" rotWithShape="0">
              <a:srgbClr val="000000">
                <a:alpha val="10000"/>
              </a:srgbClr>
            </a:outerShdw>
          </a:effectLst>
        </p:spPr>
      </p:pic>
      <p:pic>
        <p:nvPicPr>
          <p:cNvPr id="5" name="Picture 5"/>
          <p:cNvPicPr>
            <a:picLocks noChangeAspect="1"/>
          </p:cNvPicPr>
          <p:nvPr/>
        </p:nvPicPr>
        <p:blipFill>
          <a:blip r:embed="rId4"/>
          <a:srcRect t="10972" b="10972"/>
          <a:stretch>
            <a:fillRect/>
          </a:stretch>
        </p:blipFill>
        <p:spPr>
          <a:xfrm>
            <a:off x="1016000" y="4318000"/>
            <a:ext cx="4826000" cy="2159000"/>
          </a:xfrm>
          <a:prstGeom prst="roundRect">
            <a:avLst>
              <a:gd name="adj" fmla="val 7058"/>
            </a:avLst>
          </a:prstGeom>
          <a:noFill/>
          <a:ln w="25400" cap="flat" cmpd="sng">
            <a:noFill/>
            <a:prstDash val="solid"/>
            <a:round/>
          </a:ln>
          <a:effectLst>
            <a:outerShdw blurRad="152400" dist="50800" dir="5400000" algn="tl" rotWithShape="0">
              <a:srgbClr val="000000">
                <a:alpha val="10000"/>
              </a:srgbClr>
            </a:outerShdw>
          </a:effectLst>
        </p:spPr>
      </p:pic>
      <p:sp>
        <p:nvSpPr>
          <p:cNvPr id="6" name="AutoShape 6"/>
          <p:cNvSpPr/>
          <p:nvPr/>
        </p:nvSpPr>
        <p:spPr>
          <a:xfrm>
            <a:off x="6096000" y="2032000"/>
            <a:ext cx="5080000" cy="1270000"/>
          </a:xfrm>
          <a:prstGeom prst="roundRect">
            <a:avLst>
              <a:gd name="adj" fmla="val 12000"/>
            </a:avLst>
          </a:prstGeom>
          <a:solidFill>
            <a:srgbClr val="EFF6FF">
              <a:alpha val="100000"/>
            </a:srgbClr>
          </a:solidFill>
          <a:ln w="25400" cap="flat" cmpd="sng">
            <a:noFill/>
            <a:prstDash val="solid"/>
            <a:round/>
          </a:ln>
          <a:effectLst>
            <a:outerShdw blurRad="190500" dist="63500" dir="5400000" algn="tl" rotWithShape="0">
              <a:srgbClr val="3B82F6">
                <a:alpha val="1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6350000" y="228600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2476500"/>
            <a:ext cx="381000" cy="381000"/>
          </a:xfrm>
          <a:prstGeom prst="rect">
            <a:avLst/>
          </a:prstGeom>
        </p:spPr>
      </p:pic>
      <p:sp>
        <p:nvSpPr>
          <p:cNvPr id="9" name="AutoShape 9"/>
          <p:cNvSpPr/>
          <p:nvPr/>
        </p:nvSpPr>
        <p:spPr>
          <a:xfrm>
            <a:off x="7366000" y="2222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AWS EC2 Instance</a:t>
            </a:r>
            <a:endParaRPr lang="en-US" sz="1100"/>
          </a:p>
        </p:txBody>
      </p:sp>
      <p:sp>
        <p:nvSpPr>
          <p:cNvPr id="10" name="AutoShape 10"/>
          <p:cNvSpPr/>
          <p:nvPr/>
        </p:nvSpPr>
        <p:spPr>
          <a:xfrm>
            <a:off x="7366000" y="2603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Poppins"/>
                <a:ea typeface="Poppins"/>
                <a:cs typeface="Poppins"/>
                <a:sym typeface="Poppins"/>
              </a:rPr>
              <a:t>Successfully launched and running an EC2 instance in the</a:t>
            </a:r>
            <a:r>
              <a:rPr lang="en-US" sz="1200" b="1" i="0" u="none" strike="noStrike">
                <a:solidFill>
                  <a:srgbClr val="4B5563"/>
                </a:solidFill>
                <a:latin typeface="Poppins"/>
                <a:ea typeface="Poppins"/>
                <a:cs typeface="Poppins"/>
                <a:sym typeface="Poppins"/>
              </a:rPr>
              <a:t>ap-southeast-2</a:t>
            </a:r>
            <a:r>
              <a:rPr lang="en-US" sz="1200" b="0" i="0" u="none" strike="noStrike">
                <a:solidFill>
                  <a:srgbClr val="4B5563"/>
                </a:solidFill>
                <a:latin typeface="Poppins"/>
                <a:ea typeface="Poppins"/>
                <a:cs typeface="Poppins"/>
                <a:sym typeface="Poppins"/>
              </a:rPr>
              <a:t>(Sydney) region.</a:t>
            </a:r>
            <a:endParaRPr lang="en-US" sz="1100"/>
          </a:p>
        </p:txBody>
      </p:sp>
      <p:sp>
        <p:nvSpPr>
          <p:cNvPr id="11" name="AutoShape 11"/>
          <p:cNvSpPr/>
          <p:nvPr/>
        </p:nvSpPr>
        <p:spPr>
          <a:xfrm>
            <a:off x="6096000" y="3556000"/>
            <a:ext cx="5080000" cy="1270000"/>
          </a:xfrm>
          <a:prstGeom prst="roundRect">
            <a:avLst>
              <a:gd name="adj" fmla="val 12000"/>
            </a:avLst>
          </a:prstGeom>
          <a:solidFill>
            <a:srgbClr val="EFF6FF">
              <a:alpha val="100000"/>
            </a:srgbClr>
          </a:solidFill>
          <a:ln w="25400" cap="flat" cmpd="sng">
            <a:noFill/>
            <a:prstDash val="solid"/>
            <a:round/>
          </a:ln>
          <a:effectLst>
            <a:outerShdw blurRad="190500" dist="63500" dir="5400000" algn="tl" rotWithShape="0">
              <a:srgbClr val="3B82F6">
                <a:alpha val="1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6350000" y="381000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000500"/>
            <a:ext cx="381000" cy="381000"/>
          </a:xfrm>
          <a:prstGeom prst="rect">
            <a:avLst/>
          </a:prstGeom>
        </p:spPr>
      </p:pic>
      <p:sp>
        <p:nvSpPr>
          <p:cNvPr id="14" name="AutoShape 14"/>
          <p:cNvSpPr/>
          <p:nvPr/>
        </p:nvSpPr>
        <p:spPr>
          <a:xfrm>
            <a:off x="7366000" y="3746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AWS ElastiCache Redis</a:t>
            </a:r>
            <a:endParaRPr lang="en-US" sz="1100"/>
          </a:p>
        </p:txBody>
      </p:sp>
      <p:sp>
        <p:nvSpPr>
          <p:cNvPr id="15" name="AutoShape 15"/>
          <p:cNvSpPr/>
          <p:nvPr/>
        </p:nvSpPr>
        <p:spPr>
          <a:xfrm>
            <a:off x="7366000" y="4127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Poppins"/>
                <a:ea typeface="Poppins"/>
                <a:cs typeface="Poppins"/>
                <a:sym typeface="Poppins"/>
              </a:rPr>
              <a:t>A dedicated Redis cache cluster is fully set up and securely connected to the primary EC2 instance.</a:t>
            </a:r>
            <a:endParaRPr lang="en-US" sz="1100"/>
          </a:p>
        </p:txBody>
      </p:sp>
      <p:sp>
        <p:nvSpPr>
          <p:cNvPr id="16" name="AutoShape 16"/>
          <p:cNvSpPr/>
          <p:nvPr/>
        </p:nvSpPr>
        <p:spPr>
          <a:xfrm>
            <a:off x="6096000" y="5080000"/>
            <a:ext cx="5080000" cy="1270000"/>
          </a:xfrm>
          <a:prstGeom prst="roundRect">
            <a:avLst>
              <a:gd name="adj" fmla="val 12000"/>
            </a:avLst>
          </a:prstGeom>
          <a:solidFill>
            <a:srgbClr val="EFF6FF">
              <a:alpha val="100000"/>
            </a:srgbClr>
          </a:solidFill>
          <a:ln w="25400" cap="flat" cmpd="sng">
            <a:noFill/>
            <a:prstDash val="solid"/>
            <a:round/>
          </a:ln>
          <a:effectLst>
            <a:outerShdw blurRad="190500" dist="63500" dir="5400000" algn="tl" rotWithShape="0">
              <a:srgbClr val="3B82F6">
                <a:alpha val="1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6350000" y="5334000"/>
            <a:ext cx="762000" cy="762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5524500"/>
            <a:ext cx="381000" cy="381000"/>
          </a:xfrm>
          <a:prstGeom prst="rect">
            <a:avLst/>
          </a:prstGeom>
        </p:spPr>
      </p:pic>
      <p:sp>
        <p:nvSpPr>
          <p:cNvPr id="19" name="AutoShape 19"/>
          <p:cNvSpPr/>
          <p:nvPr/>
        </p:nvSpPr>
        <p:spPr>
          <a:xfrm>
            <a:off x="7366000" y="5270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Docker Containerization</a:t>
            </a:r>
            <a:endParaRPr lang="en-US" sz="1100"/>
          </a:p>
        </p:txBody>
      </p:sp>
      <p:sp>
        <p:nvSpPr>
          <p:cNvPr id="20" name="AutoShape 20"/>
          <p:cNvSpPr/>
          <p:nvPr/>
        </p:nvSpPr>
        <p:spPr>
          <a:xfrm>
            <a:off x="7366000" y="5651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Poppins"/>
                <a:ea typeface="Poppins"/>
                <a:cs typeface="Poppins"/>
                <a:sym typeface="Poppins"/>
              </a:rPr>
              <a:t>The application is containerized for strict isolation, consistent performance, and simplified lifecycle management.</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Key Achievement: Zero-Cost Operation</a:t>
            </a:r>
            <a:endParaRPr lang="en-US" sz="1100"/>
          </a:p>
        </p:txBody>
      </p:sp>
      <p:sp>
        <p:nvSpPr>
          <p:cNvPr id="3" name="AutoShape 3"/>
          <p:cNvSpPr/>
          <p:nvPr/>
        </p:nvSpPr>
        <p:spPr>
          <a:xfrm>
            <a:off x="762000" y="1206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666666"/>
                </a:solidFill>
                <a:latin typeface="Poppins"/>
                <a:ea typeface="Poppins"/>
                <a:cs typeface="Poppins"/>
                <a:sym typeface="Poppins"/>
              </a:rPr>
              <a:t>Maximizing the AWS Free Tier</a:t>
            </a:r>
            <a:endParaRPr lang="en-US" sz="1100"/>
          </a:p>
        </p:txBody>
      </p:sp>
      <p:sp>
        <p:nvSpPr>
          <p:cNvPr id="4" name="AutoShape 4"/>
          <p:cNvSpPr/>
          <p:nvPr/>
        </p:nvSpPr>
        <p:spPr>
          <a:xfrm>
            <a:off x="762000" y="1905000"/>
            <a:ext cx="5080000" cy="1397000"/>
          </a:xfrm>
          <a:prstGeom prst="roundRect">
            <a:avLst>
              <a:gd name="adj" fmla="val 9090"/>
            </a:avLst>
          </a:prstGeom>
          <a:solidFill>
            <a:srgbClr val="F9FAFB">
              <a:alpha val="100000"/>
            </a:srgbClr>
          </a:solidFill>
          <a:ln w="25400" cap="flat" cmpd="sng">
            <a:noFill/>
            <a:prstDash val="solid"/>
            <a:round/>
          </a:ln>
          <a:effectLst>
            <a:outerShdw blurRad="1270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2222500"/>
            <a:ext cx="762000" cy="7620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2413000"/>
            <a:ext cx="381000" cy="381000"/>
          </a:xfrm>
          <a:prstGeom prst="rect">
            <a:avLst/>
          </a:prstGeom>
        </p:spPr>
      </p:pic>
      <p:sp>
        <p:nvSpPr>
          <p:cNvPr id="7" name="AutoShape 7"/>
          <p:cNvSpPr/>
          <p:nvPr/>
        </p:nvSpPr>
        <p:spPr>
          <a:xfrm>
            <a:off x="2032000" y="2095500"/>
            <a:ext cx="355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Poppins"/>
                <a:ea typeface="Poppins"/>
                <a:cs typeface="Poppins"/>
                <a:sym typeface="Poppins"/>
              </a:rPr>
              <a:t>Strategic Resource Selection</a:t>
            </a:r>
            <a:endParaRPr lang="en-US" sz="1100"/>
          </a:p>
        </p:txBody>
      </p:sp>
      <p:sp>
        <p:nvSpPr>
          <p:cNvPr id="8" name="AutoShape 8"/>
          <p:cNvSpPr/>
          <p:nvPr/>
        </p:nvSpPr>
        <p:spPr>
          <a:xfrm>
            <a:off x="2032000" y="2476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Poppins"/>
                <a:ea typeface="Poppins"/>
                <a:cs typeface="Poppins"/>
                <a:sym typeface="Poppins"/>
              </a:rPr>
              <a:t>Selected services within Free Tier limits, including</a:t>
            </a:r>
            <a:r>
              <a:rPr lang="en-US" sz="1100" b="1" i="0" u="none" strike="noStrike">
                <a:solidFill>
                  <a:srgbClr val="6B7280"/>
                </a:solidFill>
                <a:latin typeface="Poppins"/>
                <a:ea typeface="Poppins"/>
                <a:cs typeface="Poppins"/>
                <a:sym typeface="Poppins"/>
              </a:rPr>
              <a:t>t4g.micro</a:t>
            </a:r>
            <a:r>
              <a:rPr lang="en-US" sz="1100" b="0" i="0" u="none" strike="noStrike">
                <a:solidFill>
                  <a:srgbClr val="6B7280"/>
                </a:solidFill>
                <a:latin typeface="Poppins"/>
                <a:ea typeface="Poppins"/>
                <a:cs typeface="Poppins"/>
                <a:sym typeface="Poppins"/>
              </a:rPr>
              <a:t>EC2 instances and</a:t>
            </a:r>
            <a:r>
              <a:rPr lang="en-US" sz="1100" b="1" i="0" u="none" strike="noStrike">
                <a:solidFill>
                  <a:srgbClr val="6B7280"/>
                </a:solidFill>
                <a:latin typeface="Poppins"/>
                <a:ea typeface="Poppins"/>
                <a:cs typeface="Poppins"/>
                <a:sym typeface="Poppins"/>
              </a:rPr>
              <a:t>cache.t3.micro</a:t>
            </a:r>
            <a:r>
              <a:rPr lang="en-US" sz="1100" b="0" i="0" u="none" strike="noStrike">
                <a:solidFill>
                  <a:srgbClr val="6B7280"/>
                </a:solidFill>
                <a:latin typeface="Poppins"/>
                <a:ea typeface="Poppins"/>
                <a:cs typeface="Poppins"/>
                <a:sym typeface="Poppins"/>
              </a:rPr>
              <a:t>ElastiCache to avoid base charges.</a:t>
            </a:r>
            <a:endParaRPr lang="en-US" sz="1100"/>
          </a:p>
        </p:txBody>
      </p:sp>
      <p:sp>
        <p:nvSpPr>
          <p:cNvPr id="9" name="AutoShape 9"/>
          <p:cNvSpPr/>
          <p:nvPr/>
        </p:nvSpPr>
        <p:spPr>
          <a:xfrm>
            <a:off x="762000" y="3556000"/>
            <a:ext cx="5080000" cy="1397000"/>
          </a:xfrm>
          <a:prstGeom prst="roundRect">
            <a:avLst>
              <a:gd name="adj" fmla="val 9090"/>
            </a:avLst>
          </a:prstGeom>
          <a:solidFill>
            <a:srgbClr val="F9FAFB">
              <a:alpha val="100000"/>
            </a:srgbClr>
          </a:solidFill>
          <a:ln w="25400" cap="flat" cmpd="sng">
            <a:noFill/>
            <a:prstDash val="solid"/>
            <a:round/>
          </a:ln>
          <a:effectLst>
            <a:outerShdw blurRad="1270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1016000" y="3873500"/>
            <a:ext cx="762000" cy="7620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4064000"/>
            <a:ext cx="381000" cy="381000"/>
          </a:xfrm>
          <a:prstGeom prst="rect">
            <a:avLst/>
          </a:prstGeom>
        </p:spPr>
      </p:pic>
      <p:sp>
        <p:nvSpPr>
          <p:cNvPr id="12" name="AutoShape 12"/>
          <p:cNvSpPr/>
          <p:nvPr/>
        </p:nvSpPr>
        <p:spPr>
          <a:xfrm>
            <a:off x="2032000" y="3746500"/>
            <a:ext cx="355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Poppins"/>
                <a:ea typeface="Poppins"/>
                <a:cs typeface="Poppins"/>
                <a:sym typeface="Poppins"/>
              </a:rPr>
              <a:t>Strict Cost Monitoring</a:t>
            </a:r>
            <a:endParaRPr lang="en-US" sz="1100"/>
          </a:p>
        </p:txBody>
      </p:sp>
      <p:sp>
        <p:nvSpPr>
          <p:cNvPr id="13" name="AutoShape 13"/>
          <p:cNvSpPr/>
          <p:nvPr/>
        </p:nvSpPr>
        <p:spPr>
          <a:xfrm>
            <a:off x="2032000" y="4127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6B7280"/>
                </a:solidFill>
                <a:latin typeface="Poppins"/>
                <a:ea typeface="Poppins"/>
                <a:cs typeface="Poppins"/>
                <a:sym typeface="Poppins"/>
              </a:rPr>
              <a:t>Enforced strict IAM permissions and implemented full resource tagging to prevent accidental over-provisioning and unexpected charges.</a:t>
            </a:r>
            <a:endParaRPr lang="en-US" sz="1100"/>
          </a:p>
        </p:txBody>
      </p:sp>
      <p:sp>
        <p:nvSpPr>
          <p:cNvPr id="14" name="AutoShape 14"/>
          <p:cNvSpPr/>
          <p:nvPr/>
        </p:nvSpPr>
        <p:spPr>
          <a:xfrm>
            <a:off x="762000" y="5207000"/>
            <a:ext cx="5080000" cy="1143000"/>
          </a:xfrm>
          <a:prstGeom prst="roundRect">
            <a:avLst>
              <a:gd name="adj" fmla="val 11111"/>
            </a:avLst>
          </a:prstGeom>
          <a:solidFill>
            <a:srgbClr val="FFFBEB">
              <a:alpha val="100000"/>
            </a:srgbClr>
          </a:solidFill>
          <a:ln w="25400" cap="flat" cmpd="sng">
            <a:noFill/>
            <a:prstDash val="solid"/>
            <a:round/>
          </a:ln>
          <a:effectLst>
            <a:outerShdw blurRad="1270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1016000" y="5397500"/>
            <a:ext cx="762000" cy="7620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06500" y="5588000"/>
            <a:ext cx="381000" cy="381000"/>
          </a:xfrm>
          <a:prstGeom prst="rect">
            <a:avLst/>
          </a:prstGeom>
        </p:spPr>
      </p:pic>
      <p:sp>
        <p:nvSpPr>
          <p:cNvPr id="17" name="AutoShape 17"/>
          <p:cNvSpPr/>
          <p:nvPr/>
        </p:nvSpPr>
        <p:spPr>
          <a:xfrm>
            <a:off x="2032000" y="5334000"/>
            <a:ext cx="355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Poppins"/>
                <a:ea typeface="Poppins"/>
                <a:cs typeface="Poppins"/>
                <a:sym typeface="Poppins"/>
              </a:rPr>
              <a:t>Proven Cost-Effectiveness</a:t>
            </a:r>
            <a:endParaRPr lang="en-US" sz="1100"/>
          </a:p>
        </p:txBody>
      </p:sp>
      <p:sp>
        <p:nvSpPr>
          <p:cNvPr id="18" name="AutoShape 18"/>
          <p:cNvSpPr/>
          <p:nvPr/>
        </p:nvSpPr>
        <p:spPr>
          <a:xfrm>
            <a:off x="2032000" y="5715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B5563"/>
                </a:solidFill>
                <a:latin typeface="Poppins"/>
                <a:ea typeface="Poppins"/>
                <a:cs typeface="Poppins"/>
                <a:sym typeface="Poppins"/>
              </a:rPr>
              <a:t>Achieved an estimated monthly cost of</a:t>
            </a:r>
            <a:r>
              <a:rPr lang="en-US" sz="1600" b="1" i="0" u="none" strike="noStrike">
                <a:solidFill>
                  <a:srgbClr val="2563EB"/>
                </a:solidFill>
                <a:latin typeface="Poppins"/>
                <a:ea typeface="Poppins"/>
                <a:cs typeface="Poppins"/>
                <a:sym typeface="Poppins"/>
              </a:rPr>
              <a:t>$0.00</a:t>
            </a:r>
            <a:r>
              <a:rPr lang="en-US" sz="1200" b="0" i="0" u="none" strike="noStrike">
                <a:solidFill>
                  <a:srgbClr val="4B5563"/>
                </a:solidFill>
                <a:latin typeface="Poppins"/>
                <a:ea typeface="Poppins"/>
                <a:cs typeface="Poppins"/>
                <a:sym typeface="Poppins"/>
              </a:rPr>
              <a:t>for the entire infrastructure.</a:t>
            </a:r>
            <a:endParaRPr lang="en-US" sz="1100"/>
          </a:p>
        </p:txBody>
      </p:sp>
      <p:sp>
        <p:nvSpPr>
          <p:cNvPr id="19" name="AutoShape 19"/>
          <p:cNvSpPr/>
          <p:nvPr/>
        </p:nvSpPr>
        <p:spPr>
          <a:xfrm>
            <a:off x="6096000" y="1904999"/>
            <a:ext cx="5860026" cy="4525297"/>
          </a:xfrm>
          <a:prstGeom prst="roundRect">
            <a:avLst>
              <a:gd name="adj" fmla="val 3428"/>
            </a:avLst>
          </a:prstGeom>
          <a:solidFill>
            <a:srgbClr val="FFFFFF">
              <a:alpha val="100000"/>
            </a:srgbClr>
          </a:solidFill>
          <a:ln w="12700" cap="flat" cmpd="sng">
            <a:solidFill>
              <a:srgbClr val="E5E7EB">
                <a:alpha val="100000"/>
              </a:srgbClr>
            </a:solidFill>
            <a:prstDash val="solid"/>
            <a:round/>
          </a:ln>
          <a:effectLst>
            <a:outerShdw blurRad="254000" dist="76200" dir="27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6979264" y="5475748"/>
            <a:ext cx="457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dirty="0">
                <a:solidFill>
                  <a:srgbClr val="333333"/>
                </a:solidFill>
                <a:latin typeface="Poppins"/>
                <a:ea typeface="Poppins"/>
                <a:cs typeface="Poppins"/>
                <a:sym typeface="Poppins"/>
              </a:rPr>
              <a:t>Verified Zero-Cost Deployment</a:t>
            </a:r>
            <a:endParaRPr lang="en-US" sz="1100" dirty="0"/>
          </a:p>
          <a:p>
            <a:pPr indent="0" algn="ctr">
              <a:lnSpc>
                <a:spcPct val="125000"/>
              </a:lnSpc>
            </a:pPr>
            <a:r>
              <a:rPr lang="en-US" sz="1100" b="0" i="0" u="none" strike="noStrike" dirty="0">
                <a:solidFill>
                  <a:srgbClr val="9CA3AF"/>
                </a:solidFill>
                <a:latin typeface="Poppins"/>
                <a:ea typeface="Poppins"/>
                <a:cs typeface="Poppins"/>
                <a:sym typeface="Poppins"/>
              </a:rPr>
              <a:t>AWS Estimated Bill Summary | April 1 - April 30, 2026</a:t>
            </a:r>
          </a:p>
        </p:txBody>
      </p:sp>
      <p:pic>
        <p:nvPicPr>
          <p:cNvPr id="25" name="图片 24" descr="图形用户界面, 文本, 应用程序&#10;&#10;AI-generated content may be incorrect.">
            <a:extLst>
              <a:ext uri="{FF2B5EF4-FFF2-40B4-BE49-F238E27FC236}">
                <a16:creationId xmlns:a16="http://schemas.microsoft.com/office/drawing/2014/main" id="{7DAA98ED-C172-CD4D-4044-09E1FE698EE6}"/>
              </a:ext>
            </a:extLst>
          </p:cNvPr>
          <p:cNvPicPr>
            <a:picLocks noChangeAspect="1"/>
          </p:cNvPicPr>
          <p:nvPr/>
        </p:nvPicPr>
        <p:blipFill>
          <a:blip r:embed="rId9"/>
          <a:srcRect l="44355" t="976" b="-1"/>
          <a:stretch/>
        </p:blipFill>
        <p:spPr>
          <a:xfrm>
            <a:off x="6435213" y="2358700"/>
            <a:ext cx="5334000" cy="2924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Key Challenges &amp; Solutions</a:t>
            </a:r>
            <a:endParaRPr lang="en-US" sz="1100"/>
          </a:p>
        </p:txBody>
      </p:sp>
      <p:sp>
        <p:nvSpPr>
          <p:cNvPr id="3" name="AutoShape 3"/>
          <p:cNvSpPr/>
          <p:nvPr/>
        </p:nvSpPr>
        <p:spPr>
          <a:xfrm>
            <a:off x="1016000" y="1397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6B7280"/>
                </a:solidFill>
                <a:latin typeface="Poppins"/>
                <a:ea typeface="Poppins"/>
                <a:cs typeface="Poppins"/>
                <a:sym typeface="Poppins"/>
              </a:rPr>
              <a:t>Overcoming Hurdles in Development</a:t>
            </a:r>
            <a:endParaRPr lang="en-US" sz="1100"/>
          </a:p>
        </p:txBody>
      </p:sp>
      <p:sp>
        <p:nvSpPr>
          <p:cNvPr id="4" name="AutoShape 4"/>
          <p:cNvSpPr/>
          <p:nvPr/>
        </p:nvSpPr>
        <p:spPr>
          <a:xfrm>
            <a:off x="1016000" y="2032000"/>
            <a:ext cx="3048000" cy="4064000"/>
          </a:xfrm>
          <a:prstGeom prst="roundRect">
            <a:avLst>
              <a:gd name="adj" fmla="val 6666"/>
            </a:avLst>
          </a:prstGeom>
          <a:solidFill>
            <a:srgbClr val="F9FAFB">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2032000"/>
            <a:ext cx="3048000" cy="76200"/>
          </a:xfrm>
          <a:prstGeom prst="roundRect">
            <a:avLst>
              <a:gd name="adj" fmla="val 266666"/>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2413000"/>
            <a:ext cx="508000" cy="508000"/>
          </a:xfrm>
          <a:prstGeom prst="rect">
            <a:avLst/>
          </a:prstGeom>
        </p:spPr>
      </p:pic>
      <p:sp>
        <p:nvSpPr>
          <p:cNvPr id="7" name="AutoShape 7"/>
          <p:cNvSpPr/>
          <p:nvPr/>
        </p:nvSpPr>
        <p:spPr>
          <a:xfrm>
            <a:off x="1905000" y="2463800"/>
            <a:ext cx="1905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Docker Startup</a:t>
            </a:r>
            <a:br>
              <a:rPr lang="en-US" sz="1600" b="1" i="0" u="none" strike="noStrike">
                <a:solidFill>
                  <a:srgbClr val="1F2937"/>
                </a:solidFill>
                <a:latin typeface="Poppins"/>
                <a:ea typeface="Poppins"/>
                <a:cs typeface="Poppins"/>
                <a:sym typeface="Poppins"/>
              </a:rPr>
            </a:br>
            <a:r>
              <a:rPr lang="en-US" sz="1600" b="1" i="0" u="none" strike="noStrike">
                <a:solidFill>
                  <a:srgbClr val="1F2937"/>
                </a:solidFill>
                <a:latin typeface="Poppins"/>
                <a:ea typeface="Poppins"/>
                <a:cs typeface="Poppins"/>
                <a:sym typeface="Poppins"/>
              </a:rPr>
              <a:t>Failure</a:t>
            </a:r>
            <a:endParaRPr lang="en-US" sz="1100"/>
          </a:p>
        </p:txBody>
      </p:sp>
      <p:sp>
        <p:nvSpPr>
          <p:cNvPr id="8" name="AutoShape 8"/>
          <p:cNvSpPr/>
          <p:nvPr/>
        </p:nvSpPr>
        <p:spPr>
          <a:xfrm>
            <a:off x="1270000" y="3175000"/>
            <a:ext cx="2540000" cy="1143000"/>
          </a:xfrm>
          <a:prstGeom prst="roundRect">
            <a:avLst>
              <a:gd name="adj" fmla="val 8888"/>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422400" y="3302000"/>
            <a:ext cx="2235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F4444"/>
                </a:solidFill>
                <a:latin typeface="Poppins"/>
                <a:ea typeface="Poppins"/>
                <a:cs typeface="Poppins"/>
                <a:sym typeface="Poppins"/>
              </a:rPr>
              <a:t>THE ISSUE</a:t>
            </a:r>
            <a:endParaRPr lang="en-US" sz="1100"/>
          </a:p>
        </p:txBody>
      </p:sp>
      <p:sp>
        <p:nvSpPr>
          <p:cNvPr id="10" name="AutoShape 10"/>
          <p:cNvSpPr/>
          <p:nvPr/>
        </p:nvSpPr>
        <p:spPr>
          <a:xfrm>
            <a:off x="1422400" y="3683000"/>
            <a:ext cx="22352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4B5563"/>
                </a:solidFill>
                <a:latin typeface="Poppins"/>
                <a:ea typeface="Poppins"/>
                <a:cs typeface="Poppins"/>
                <a:sym typeface="Poppins"/>
              </a:rPr>
              <a:t>Persistent crashes due to incorrect file permissions and missing critical environment variables.</a:t>
            </a:r>
            <a:endParaRPr lang="en-US" sz="1100"/>
          </a:p>
        </p:txBody>
      </p:sp>
      <p:sp>
        <p:nvSpPr>
          <p:cNvPr id="11" name="AutoShape 11"/>
          <p:cNvSpPr/>
          <p:nvPr/>
        </p:nvSpPr>
        <p:spPr>
          <a:xfrm>
            <a:off x="1270000" y="4572000"/>
            <a:ext cx="2540000" cy="1143000"/>
          </a:xfrm>
          <a:prstGeom prst="roundRect">
            <a:avLst>
              <a:gd name="adj" fmla="val 8888"/>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422400" y="4699000"/>
            <a:ext cx="2235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B82F6"/>
                </a:solidFill>
                <a:latin typeface="Poppins"/>
                <a:ea typeface="Poppins"/>
                <a:cs typeface="Poppins"/>
                <a:sym typeface="Poppins"/>
              </a:rPr>
              <a:t>THE SOLUTION</a:t>
            </a:r>
            <a:endParaRPr lang="en-US" sz="1100"/>
          </a:p>
        </p:txBody>
      </p:sp>
      <p:sp>
        <p:nvSpPr>
          <p:cNvPr id="13" name="AutoShape 13"/>
          <p:cNvSpPr/>
          <p:nvPr/>
        </p:nvSpPr>
        <p:spPr>
          <a:xfrm>
            <a:off x="1422400" y="5080000"/>
            <a:ext cx="22352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4B5563"/>
                </a:solidFill>
                <a:latin typeface="Poppins"/>
                <a:ea typeface="Poppins"/>
                <a:cs typeface="Poppins"/>
                <a:sym typeface="Poppins"/>
              </a:rPr>
              <a:t>Fixed `config.ini` permissions to 644 and properly set all required env vars in the compose file.</a:t>
            </a:r>
            <a:endParaRPr lang="en-US" sz="1100"/>
          </a:p>
        </p:txBody>
      </p:sp>
      <p:sp>
        <p:nvSpPr>
          <p:cNvPr id="14" name="AutoShape 14"/>
          <p:cNvSpPr/>
          <p:nvPr/>
        </p:nvSpPr>
        <p:spPr>
          <a:xfrm>
            <a:off x="4318000" y="2032000"/>
            <a:ext cx="3048000" cy="4064000"/>
          </a:xfrm>
          <a:prstGeom prst="roundRect">
            <a:avLst>
              <a:gd name="adj" fmla="val 6666"/>
            </a:avLst>
          </a:prstGeom>
          <a:solidFill>
            <a:srgbClr val="F9FAFB">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4318000" y="2032000"/>
            <a:ext cx="3048000" cy="76200"/>
          </a:xfrm>
          <a:prstGeom prst="roundRect">
            <a:avLst>
              <a:gd name="adj" fmla="val 266666"/>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2413000"/>
            <a:ext cx="508000" cy="508000"/>
          </a:xfrm>
          <a:prstGeom prst="rect">
            <a:avLst/>
          </a:prstGeom>
        </p:spPr>
      </p:pic>
      <p:sp>
        <p:nvSpPr>
          <p:cNvPr id="17" name="AutoShape 17"/>
          <p:cNvSpPr/>
          <p:nvPr/>
        </p:nvSpPr>
        <p:spPr>
          <a:xfrm>
            <a:off x="5207000" y="2463800"/>
            <a:ext cx="1905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Redis Connectivity</a:t>
            </a:r>
            <a:br>
              <a:rPr lang="en-US" sz="1600" b="1" i="0" u="none" strike="noStrike">
                <a:solidFill>
                  <a:srgbClr val="1F2937"/>
                </a:solidFill>
                <a:latin typeface="Poppins"/>
                <a:ea typeface="Poppins"/>
                <a:cs typeface="Poppins"/>
                <a:sym typeface="Poppins"/>
              </a:rPr>
            </a:br>
            <a:r>
              <a:rPr lang="en-US" sz="1600" b="1" i="0" u="none" strike="noStrike">
                <a:solidFill>
                  <a:srgbClr val="1F2937"/>
                </a:solidFill>
                <a:latin typeface="Poppins"/>
                <a:ea typeface="Poppins"/>
                <a:cs typeface="Poppins"/>
                <a:sym typeface="Poppins"/>
              </a:rPr>
              <a:t>Issues</a:t>
            </a:r>
            <a:endParaRPr lang="en-US" sz="1100"/>
          </a:p>
        </p:txBody>
      </p:sp>
      <p:sp>
        <p:nvSpPr>
          <p:cNvPr id="18" name="AutoShape 18"/>
          <p:cNvSpPr/>
          <p:nvPr/>
        </p:nvSpPr>
        <p:spPr>
          <a:xfrm>
            <a:off x="4572000" y="3175000"/>
            <a:ext cx="2540000" cy="1143000"/>
          </a:xfrm>
          <a:prstGeom prst="roundRect">
            <a:avLst>
              <a:gd name="adj" fmla="val 8888"/>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4724400" y="3302000"/>
            <a:ext cx="2235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F4444"/>
                </a:solidFill>
                <a:latin typeface="Poppins"/>
                <a:ea typeface="Poppins"/>
                <a:cs typeface="Poppins"/>
                <a:sym typeface="Poppins"/>
              </a:rPr>
              <a:t>THE ISSUE</a:t>
            </a:r>
            <a:endParaRPr lang="en-US" sz="1100"/>
          </a:p>
        </p:txBody>
      </p:sp>
      <p:sp>
        <p:nvSpPr>
          <p:cNvPr id="20" name="AutoShape 20"/>
          <p:cNvSpPr/>
          <p:nvPr/>
        </p:nvSpPr>
        <p:spPr>
          <a:xfrm>
            <a:off x="4724400" y="3683000"/>
            <a:ext cx="22352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4B5563"/>
                </a:solidFill>
                <a:latin typeface="Poppins"/>
                <a:ea typeface="Poppins"/>
                <a:cs typeface="Poppins"/>
                <a:sym typeface="Poppins"/>
              </a:rPr>
              <a:t>Connection refused errors caused by strict VPC isolation and blocked security group inbound rules.</a:t>
            </a:r>
            <a:endParaRPr lang="en-US" sz="1100"/>
          </a:p>
        </p:txBody>
      </p:sp>
      <p:sp>
        <p:nvSpPr>
          <p:cNvPr id="21" name="AutoShape 21"/>
          <p:cNvSpPr/>
          <p:nvPr/>
        </p:nvSpPr>
        <p:spPr>
          <a:xfrm>
            <a:off x="4572000" y="4572000"/>
            <a:ext cx="2540000" cy="1143000"/>
          </a:xfrm>
          <a:prstGeom prst="roundRect">
            <a:avLst>
              <a:gd name="adj" fmla="val 8888"/>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4724400" y="4699000"/>
            <a:ext cx="2235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B82F6"/>
                </a:solidFill>
                <a:latin typeface="Poppins"/>
                <a:ea typeface="Poppins"/>
                <a:cs typeface="Poppins"/>
                <a:sym typeface="Poppins"/>
              </a:rPr>
              <a:t>THE SOLUTION</a:t>
            </a:r>
            <a:endParaRPr lang="en-US" sz="1100"/>
          </a:p>
        </p:txBody>
      </p:sp>
      <p:sp>
        <p:nvSpPr>
          <p:cNvPr id="23" name="AutoShape 23"/>
          <p:cNvSpPr/>
          <p:nvPr/>
        </p:nvSpPr>
        <p:spPr>
          <a:xfrm>
            <a:off x="4724400" y="5080000"/>
            <a:ext cx="22352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4B5563"/>
                </a:solidFill>
                <a:latin typeface="Poppins"/>
                <a:ea typeface="Poppins"/>
                <a:cs typeface="Poppins"/>
                <a:sym typeface="Poppins"/>
              </a:rPr>
              <a:t>Configured VPC peering between services and added explicit inbound rules for Redis port 6379.</a:t>
            </a:r>
            <a:endParaRPr lang="en-US" sz="1100"/>
          </a:p>
        </p:txBody>
      </p:sp>
      <p:sp>
        <p:nvSpPr>
          <p:cNvPr id="24" name="AutoShape 24"/>
          <p:cNvSpPr/>
          <p:nvPr/>
        </p:nvSpPr>
        <p:spPr>
          <a:xfrm>
            <a:off x="7620000" y="2032000"/>
            <a:ext cx="3048000" cy="4064000"/>
          </a:xfrm>
          <a:prstGeom prst="roundRect">
            <a:avLst>
              <a:gd name="adj" fmla="val 6666"/>
            </a:avLst>
          </a:prstGeom>
          <a:solidFill>
            <a:srgbClr val="F9FAFB">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7620000" y="2032000"/>
            <a:ext cx="3048000" cy="76200"/>
          </a:xfrm>
          <a:prstGeom prst="roundRect">
            <a:avLst>
              <a:gd name="adj" fmla="val 266666"/>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874000" y="2413000"/>
            <a:ext cx="508000" cy="508000"/>
          </a:xfrm>
          <a:prstGeom prst="rect">
            <a:avLst/>
          </a:prstGeom>
        </p:spPr>
      </p:pic>
      <p:sp>
        <p:nvSpPr>
          <p:cNvPr id="27" name="AutoShape 27"/>
          <p:cNvSpPr/>
          <p:nvPr/>
        </p:nvSpPr>
        <p:spPr>
          <a:xfrm>
            <a:off x="8509000" y="2463800"/>
            <a:ext cx="1905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API Rate</a:t>
            </a:r>
            <a:br>
              <a:rPr lang="en-US" sz="1600" b="1" i="0" u="none" strike="noStrike">
                <a:solidFill>
                  <a:srgbClr val="1F2937"/>
                </a:solidFill>
                <a:latin typeface="Poppins"/>
                <a:ea typeface="Poppins"/>
                <a:cs typeface="Poppins"/>
                <a:sym typeface="Poppins"/>
              </a:rPr>
            </a:br>
            <a:r>
              <a:rPr lang="en-US" sz="1600" b="1" i="0" u="none" strike="noStrike">
                <a:solidFill>
                  <a:srgbClr val="1F2937"/>
                </a:solidFill>
                <a:latin typeface="Poppins"/>
                <a:ea typeface="Poppins"/>
                <a:cs typeface="Poppins"/>
                <a:sym typeface="Poppins"/>
              </a:rPr>
              <a:t>Limits</a:t>
            </a:r>
            <a:endParaRPr lang="en-US" sz="1100"/>
          </a:p>
        </p:txBody>
      </p:sp>
      <p:sp>
        <p:nvSpPr>
          <p:cNvPr id="28" name="AutoShape 28"/>
          <p:cNvSpPr/>
          <p:nvPr/>
        </p:nvSpPr>
        <p:spPr>
          <a:xfrm>
            <a:off x="7874000" y="3175000"/>
            <a:ext cx="2540000" cy="1143000"/>
          </a:xfrm>
          <a:prstGeom prst="roundRect">
            <a:avLst>
              <a:gd name="adj" fmla="val 8888"/>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8026400" y="3302000"/>
            <a:ext cx="2235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F4444"/>
                </a:solidFill>
                <a:latin typeface="Poppins"/>
                <a:ea typeface="Poppins"/>
                <a:cs typeface="Poppins"/>
                <a:sym typeface="Poppins"/>
              </a:rPr>
              <a:t>THE ISSUE</a:t>
            </a:r>
            <a:endParaRPr lang="en-US" sz="1100"/>
          </a:p>
        </p:txBody>
      </p:sp>
      <p:sp>
        <p:nvSpPr>
          <p:cNvPr id="30" name="AutoShape 30"/>
          <p:cNvSpPr/>
          <p:nvPr/>
        </p:nvSpPr>
        <p:spPr>
          <a:xfrm>
            <a:off x="8026400" y="3683000"/>
            <a:ext cx="22352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4B5563"/>
                </a:solidFill>
                <a:latin typeface="Poppins"/>
                <a:ea typeface="Poppins"/>
                <a:cs typeface="Poppins"/>
                <a:sym typeface="Poppins"/>
              </a:rPr>
              <a:t>Risk of hitting LLM API rate limits, leading to service throttling and degraded user experience.</a:t>
            </a:r>
            <a:endParaRPr lang="en-US" sz="1100"/>
          </a:p>
        </p:txBody>
      </p:sp>
      <p:sp>
        <p:nvSpPr>
          <p:cNvPr id="31" name="AutoShape 31"/>
          <p:cNvSpPr/>
          <p:nvPr/>
        </p:nvSpPr>
        <p:spPr>
          <a:xfrm>
            <a:off x="7874000" y="4572000"/>
            <a:ext cx="2540000" cy="1143000"/>
          </a:xfrm>
          <a:prstGeom prst="roundRect">
            <a:avLst>
              <a:gd name="adj" fmla="val 8888"/>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026400" y="4699000"/>
            <a:ext cx="2235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B82F6"/>
                </a:solidFill>
                <a:latin typeface="Poppins"/>
                <a:ea typeface="Poppins"/>
                <a:cs typeface="Poppins"/>
                <a:sym typeface="Poppins"/>
              </a:rPr>
              <a:t>THE SOLUTION</a:t>
            </a:r>
            <a:endParaRPr lang="en-US" sz="1100"/>
          </a:p>
        </p:txBody>
      </p:sp>
      <p:sp>
        <p:nvSpPr>
          <p:cNvPr id="33" name="AutoShape 33"/>
          <p:cNvSpPr/>
          <p:nvPr/>
        </p:nvSpPr>
        <p:spPr>
          <a:xfrm>
            <a:off x="8026400" y="5080000"/>
            <a:ext cx="22352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4B5563"/>
                </a:solidFill>
                <a:latin typeface="Poppins"/>
                <a:ea typeface="Poppins"/>
                <a:cs typeface="Poppins"/>
                <a:sym typeface="Poppins"/>
              </a:rPr>
              <a:t>Implemented a robust request caching layer using Redis to minimize redundant API calls.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Poppins"/>
                <a:ea typeface="Poppins"/>
                <a:cs typeface="Poppins"/>
                <a:sym typeface="Poppins"/>
              </a:rPr>
              <a:t>Project Summary &amp; Achievements</a:t>
            </a:r>
            <a:endParaRPr lang="en-US" sz="1100"/>
          </a:p>
        </p:txBody>
      </p:sp>
      <p:sp>
        <p:nvSpPr>
          <p:cNvPr id="3" name="AutoShape 3"/>
          <p:cNvSpPr/>
          <p:nvPr/>
        </p:nvSpPr>
        <p:spPr>
          <a:xfrm>
            <a:off x="1016000" y="14605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B82F6"/>
                </a:solidFill>
                <a:latin typeface="Poppins"/>
                <a:ea typeface="Poppins"/>
                <a:cs typeface="Poppins"/>
                <a:sym typeface="Poppins"/>
              </a:rPr>
              <a:t>A Successful Delivery</a:t>
            </a:r>
            <a:endParaRPr lang="en-US" sz="1100"/>
          </a:p>
        </p:txBody>
      </p:sp>
      <p:sp>
        <p:nvSpPr>
          <p:cNvPr id="4" name="AutoShape 4"/>
          <p:cNvSpPr/>
          <p:nvPr/>
        </p:nvSpPr>
        <p:spPr>
          <a:xfrm>
            <a:off x="1016000" y="2159000"/>
            <a:ext cx="4826000" cy="1651000"/>
          </a:xfrm>
          <a:prstGeom prst="roundRect">
            <a:avLst>
              <a:gd name="adj" fmla="val 923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2476500"/>
            <a:ext cx="1016000" cy="1016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73200" y="2679700"/>
            <a:ext cx="609600" cy="609600"/>
          </a:xfrm>
          <a:prstGeom prst="rect">
            <a:avLst/>
          </a:prstGeom>
        </p:spPr>
      </p:pic>
      <p:sp>
        <p:nvSpPr>
          <p:cNvPr id="7" name="AutoShape 7"/>
          <p:cNvSpPr/>
          <p:nvPr/>
        </p:nvSpPr>
        <p:spPr>
          <a:xfrm>
            <a:off x="2540000" y="2413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Fully Functional Bot</a:t>
            </a:r>
            <a:endParaRPr lang="en-US" sz="1100"/>
          </a:p>
        </p:txBody>
      </p:sp>
      <p:sp>
        <p:nvSpPr>
          <p:cNvPr id="8" name="AutoShape 8"/>
          <p:cNvSpPr/>
          <p:nvPr/>
        </p:nvSpPr>
        <p:spPr>
          <a:xfrm>
            <a:off x="2540000" y="2921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Poppins"/>
                <a:ea typeface="Poppins"/>
                <a:cs typeface="Poppins"/>
                <a:sym typeface="Poppins"/>
              </a:rPr>
              <a:t>Delivered a multi-feature AI chatbot with 9 core commands for seamless user interaction.</a:t>
            </a:r>
            <a:endParaRPr lang="en-US" sz="1100"/>
          </a:p>
        </p:txBody>
      </p:sp>
      <p:sp>
        <p:nvSpPr>
          <p:cNvPr id="9" name="AutoShape 9"/>
          <p:cNvSpPr/>
          <p:nvPr/>
        </p:nvSpPr>
        <p:spPr>
          <a:xfrm>
            <a:off x="6096000" y="2159000"/>
            <a:ext cx="4826000" cy="1651000"/>
          </a:xfrm>
          <a:prstGeom prst="roundRect">
            <a:avLst>
              <a:gd name="adj" fmla="val 923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350000" y="2476500"/>
            <a:ext cx="1016000" cy="1016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3200" y="2679700"/>
            <a:ext cx="609600" cy="609600"/>
          </a:xfrm>
          <a:prstGeom prst="rect">
            <a:avLst/>
          </a:prstGeom>
        </p:spPr>
      </p:pic>
      <p:sp>
        <p:nvSpPr>
          <p:cNvPr id="12" name="AutoShape 12"/>
          <p:cNvSpPr/>
          <p:nvPr/>
        </p:nvSpPr>
        <p:spPr>
          <a:xfrm>
            <a:off x="7620000" y="2413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Robust Cloud Deployment</a:t>
            </a:r>
            <a:endParaRPr lang="en-US" sz="1100"/>
          </a:p>
        </p:txBody>
      </p:sp>
      <p:sp>
        <p:nvSpPr>
          <p:cNvPr id="13" name="AutoShape 13"/>
          <p:cNvSpPr/>
          <p:nvPr/>
        </p:nvSpPr>
        <p:spPr>
          <a:xfrm>
            <a:off x="7620000" y="2921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Poppins"/>
                <a:ea typeface="Poppins"/>
                <a:cs typeface="Poppins"/>
                <a:sym typeface="Poppins"/>
              </a:rPr>
              <a:t>Successfully deployed a fully containerized application on AWS EC2 for high availability.</a:t>
            </a:r>
            <a:endParaRPr lang="en-US" sz="1100"/>
          </a:p>
        </p:txBody>
      </p:sp>
      <p:sp>
        <p:nvSpPr>
          <p:cNvPr id="14" name="AutoShape 14"/>
          <p:cNvSpPr/>
          <p:nvPr/>
        </p:nvSpPr>
        <p:spPr>
          <a:xfrm>
            <a:off x="1016000" y="4191000"/>
            <a:ext cx="4826000" cy="1651000"/>
          </a:xfrm>
          <a:prstGeom prst="roundRect">
            <a:avLst>
              <a:gd name="adj" fmla="val 923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270000" y="4508500"/>
            <a:ext cx="1016000" cy="1016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73200" y="4711700"/>
            <a:ext cx="609600" cy="609600"/>
          </a:xfrm>
          <a:prstGeom prst="rect">
            <a:avLst/>
          </a:prstGeom>
        </p:spPr>
      </p:pic>
      <p:sp>
        <p:nvSpPr>
          <p:cNvPr id="17" name="AutoShape 17"/>
          <p:cNvSpPr/>
          <p:nvPr/>
        </p:nvSpPr>
        <p:spPr>
          <a:xfrm>
            <a:off x="2540000" y="4445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Secure &amp; Persistent Storage</a:t>
            </a:r>
            <a:endParaRPr lang="en-US" sz="1100"/>
          </a:p>
        </p:txBody>
      </p:sp>
      <p:sp>
        <p:nvSpPr>
          <p:cNvPr id="18" name="AutoShape 18"/>
          <p:cNvSpPr/>
          <p:nvPr/>
        </p:nvSpPr>
        <p:spPr>
          <a:xfrm>
            <a:off x="2540000" y="4953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Poppins"/>
                <a:ea typeface="Poppins"/>
                <a:cs typeface="Poppins"/>
                <a:sym typeface="Poppins"/>
              </a:rPr>
              <a:t>Implemented AWS ElastiCache (Redis) for reliable, low-latency and persistent data management.</a:t>
            </a:r>
            <a:endParaRPr lang="en-US" sz="1100"/>
          </a:p>
        </p:txBody>
      </p:sp>
      <p:sp>
        <p:nvSpPr>
          <p:cNvPr id="19" name="AutoShape 19"/>
          <p:cNvSpPr/>
          <p:nvPr/>
        </p:nvSpPr>
        <p:spPr>
          <a:xfrm>
            <a:off x="6096000" y="4191000"/>
            <a:ext cx="4826000" cy="1651000"/>
          </a:xfrm>
          <a:prstGeom prst="roundRect">
            <a:avLst>
              <a:gd name="adj" fmla="val 923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350000" y="4508500"/>
            <a:ext cx="1016000" cy="1016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53200" y="4711700"/>
            <a:ext cx="609600" cy="609600"/>
          </a:xfrm>
          <a:prstGeom prst="rect">
            <a:avLst/>
          </a:prstGeom>
        </p:spPr>
      </p:pic>
      <p:sp>
        <p:nvSpPr>
          <p:cNvPr id="22" name="AutoShape 22"/>
          <p:cNvSpPr/>
          <p:nvPr/>
        </p:nvSpPr>
        <p:spPr>
          <a:xfrm>
            <a:off x="7620000" y="4445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Poppins"/>
                <a:ea typeface="Poppins"/>
                <a:cs typeface="Poppins"/>
                <a:sym typeface="Poppins"/>
              </a:rPr>
              <a:t>Cost-Effective Operation</a:t>
            </a:r>
            <a:endParaRPr lang="en-US" sz="1100"/>
          </a:p>
        </p:txBody>
      </p:sp>
      <p:sp>
        <p:nvSpPr>
          <p:cNvPr id="23" name="AutoShape 23"/>
          <p:cNvSpPr/>
          <p:nvPr/>
        </p:nvSpPr>
        <p:spPr>
          <a:xfrm>
            <a:off x="7620000" y="4953000"/>
            <a:ext cx="30480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4B5563"/>
                </a:solidFill>
                <a:latin typeface="Poppins"/>
                <a:ea typeface="Poppins"/>
                <a:cs typeface="Poppins"/>
                <a:sym typeface="Poppins"/>
              </a:rPr>
              <a:t>Achieved the goal of zero-cost operation by leveraging the AWS Free Tier resources efficiently.</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35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333333"/>
                </a:solidFill>
                <a:latin typeface="Poppins"/>
                <a:ea typeface="Poppins"/>
                <a:cs typeface="Poppins"/>
                <a:sym typeface="Poppins"/>
              </a:rPr>
              <a:t>Thank You!</a:t>
            </a:r>
            <a:endParaRPr lang="en-US" sz="1100"/>
          </a:p>
        </p:txBody>
      </p:sp>
      <p:sp>
        <p:nvSpPr>
          <p:cNvPr id="3" name="AutoShape 3"/>
          <p:cNvSpPr/>
          <p:nvPr/>
        </p:nvSpPr>
        <p:spPr>
          <a:xfrm>
            <a:off x="0" y="1524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0" i="0" u="none" strike="noStrike">
                <a:solidFill>
                  <a:srgbClr val="666666"/>
                </a:solidFill>
                <a:latin typeface="Poppins"/>
                <a:ea typeface="Poppins"/>
                <a:cs typeface="Poppins"/>
                <a:sym typeface="Poppins"/>
              </a:rPr>
              <a:t>Any Questions?</a:t>
            </a:r>
            <a:endParaRPr lang="en-US" sz="1100"/>
          </a:p>
        </p:txBody>
      </p:sp>
      <p:sp>
        <p:nvSpPr>
          <p:cNvPr id="4" name="AutoShape 4"/>
          <p:cNvSpPr/>
          <p:nvPr/>
        </p:nvSpPr>
        <p:spPr>
          <a:xfrm>
            <a:off x="762000" y="2413000"/>
            <a:ext cx="4826000" cy="1397000"/>
          </a:xfrm>
          <a:prstGeom prst="roundRect">
            <a:avLst>
              <a:gd name="adj" fmla="val 10909"/>
            </a:avLst>
          </a:prstGeom>
          <a:solidFill>
            <a:srgbClr val="F9FAFB">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30500"/>
            <a:ext cx="762000" cy="762000"/>
          </a:xfrm>
          <a:prstGeom prst="rect">
            <a:avLst/>
          </a:prstGeom>
        </p:spPr>
      </p:pic>
      <p:sp>
        <p:nvSpPr>
          <p:cNvPr id="6" name="AutoShape 6"/>
          <p:cNvSpPr/>
          <p:nvPr/>
        </p:nvSpPr>
        <p:spPr>
          <a:xfrm>
            <a:off x="2032000" y="2667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GitHub Repository</a:t>
            </a:r>
            <a:endParaRPr lang="en-US" sz="1100"/>
          </a:p>
        </p:txBody>
      </p:sp>
      <p:sp>
        <p:nvSpPr>
          <p:cNvPr id="7" name="AutoShape 7"/>
          <p:cNvSpPr/>
          <p:nvPr/>
        </p:nvSpPr>
        <p:spPr>
          <a:xfrm>
            <a:off x="2032000" y="3111500"/>
            <a:ext cx="3302000" cy="508000"/>
          </a:xfrm>
          <a:prstGeom prst="roundRect">
            <a:avLst>
              <a:gd name="adj" fmla="val 15000"/>
            </a:avLst>
          </a:prstGeom>
          <a:solidFill>
            <a:srgbClr val="EBED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159000" y="32004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555555"/>
                </a:solidFill>
                <a:latin typeface="Roboto Mono"/>
                <a:ea typeface="Roboto Mono"/>
                <a:cs typeface="Roboto Mono"/>
                <a:sym typeface="Roboto Mono"/>
              </a:rPr>
              <a:t>github.com/EvanCHEN9898/comp7940-chatbot</a:t>
            </a:r>
            <a:endParaRPr lang="en-US" sz="1100"/>
          </a:p>
        </p:txBody>
      </p:sp>
      <p:sp>
        <p:nvSpPr>
          <p:cNvPr id="9" name="AutoShape 9"/>
          <p:cNvSpPr/>
          <p:nvPr/>
        </p:nvSpPr>
        <p:spPr>
          <a:xfrm>
            <a:off x="762000" y="4191000"/>
            <a:ext cx="4826000" cy="1397000"/>
          </a:xfrm>
          <a:prstGeom prst="roundRect">
            <a:avLst>
              <a:gd name="adj" fmla="val 10909"/>
            </a:avLst>
          </a:prstGeom>
          <a:solidFill>
            <a:srgbClr val="F9FAFB">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08500"/>
            <a:ext cx="762000" cy="762000"/>
          </a:xfrm>
          <a:prstGeom prst="rect">
            <a:avLst/>
          </a:prstGeom>
        </p:spPr>
      </p:pic>
      <p:sp>
        <p:nvSpPr>
          <p:cNvPr id="11" name="AutoShape 11"/>
          <p:cNvSpPr/>
          <p:nvPr/>
        </p:nvSpPr>
        <p:spPr>
          <a:xfrm>
            <a:off x="2032000" y="4445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Try the Bot on Telegram</a:t>
            </a:r>
            <a:endParaRPr lang="en-US" sz="1100"/>
          </a:p>
        </p:txBody>
      </p:sp>
      <p:sp>
        <p:nvSpPr>
          <p:cNvPr id="12" name="AutoShape 12"/>
          <p:cNvSpPr/>
          <p:nvPr/>
        </p:nvSpPr>
        <p:spPr>
          <a:xfrm>
            <a:off x="2032000" y="4889500"/>
            <a:ext cx="3302000" cy="508000"/>
          </a:xfrm>
          <a:prstGeom prst="roundRect">
            <a:avLst>
              <a:gd name="adj" fmla="val 15000"/>
            </a:avLst>
          </a:prstGeom>
          <a:solidFill>
            <a:srgbClr val="EBED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2159000" y="49784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Roboto Mono"/>
                <a:ea typeface="Roboto Mono"/>
                <a:cs typeface="Roboto Mono"/>
                <a:sym typeface="Roboto Mono"/>
              </a:rPr>
              <a:t>t.me/Gaga2026_bot</a:t>
            </a:r>
            <a:endParaRPr lang="en-US" sz="1100"/>
          </a:p>
        </p:txBody>
      </p:sp>
      <p:sp>
        <p:nvSpPr>
          <p:cNvPr id="14" name="AutoShape 14"/>
          <p:cNvSpPr/>
          <p:nvPr/>
        </p:nvSpPr>
        <p:spPr>
          <a:xfrm>
            <a:off x="5969000" y="2413000"/>
            <a:ext cx="4318000" cy="3175000"/>
          </a:xfrm>
          <a:prstGeom prst="roundRect">
            <a:avLst>
              <a:gd name="adj" fmla="val 6400"/>
            </a:avLst>
          </a:prstGeom>
          <a:solidFill>
            <a:srgbClr val="FFFFFF">
              <a:alpha val="100000"/>
            </a:srgbClr>
          </a:solidFill>
          <a:ln w="25400" cap="flat" cmpd="sng">
            <a:noFill/>
            <a:prstDash val="solid"/>
            <a:round/>
          </a:ln>
          <a:effectLst>
            <a:outerShdw blurRad="254000" dist="76200" dir="27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0" y="5969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99999"/>
                </a:solidFill>
                <a:latin typeface="Poppins"/>
                <a:ea typeface="Poppins"/>
                <a:cs typeface="Poppins"/>
                <a:sym typeface="Poppins"/>
              </a:rPr>
              <a:t>COMP7940 Cloud-Native AI Chatbot Project Presentation</a:t>
            </a:r>
            <a:endParaRPr lang="en-US" sz="1100"/>
          </a:p>
        </p:txBody>
      </p:sp>
      <p:pic>
        <p:nvPicPr>
          <p:cNvPr id="18" name="图片 17" descr="QR 代码&#10;&#10;AI-generated content may be incorrect.">
            <a:extLst>
              <a:ext uri="{FF2B5EF4-FFF2-40B4-BE49-F238E27FC236}">
                <a16:creationId xmlns:a16="http://schemas.microsoft.com/office/drawing/2014/main" id="{F66DCF0B-2164-9DBE-2F7C-535FAE329A05}"/>
              </a:ext>
            </a:extLst>
          </p:cNvPr>
          <p:cNvPicPr>
            <a:picLocks noChangeAspect="1"/>
          </p:cNvPicPr>
          <p:nvPr/>
        </p:nvPicPr>
        <p:blipFill>
          <a:blip r:embed="rId7"/>
          <a:srcRect l="19565" t="37037" r="20712" b="25926"/>
          <a:stretch/>
        </p:blipFill>
        <p:spPr>
          <a:xfrm>
            <a:off x="6604000" y="2385200"/>
            <a:ext cx="2713703" cy="323059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1711</Words>
  <Application>Microsoft Office PowerPoint</Application>
  <PresentationFormat>宽屏</PresentationFormat>
  <Paragraphs>167</Paragraphs>
  <Slides>12</Slides>
  <Notes>12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vt:i4>
      </vt:variant>
    </vt:vector>
  </HeadingPairs>
  <TitlesOfParts>
    <vt:vector size="19" baseType="lpstr">
      <vt:lpstr>Noto Sans SC</vt:lpstr>
      <vt:lpstr>等线</vt:lpstr>
      <vt:lpstr>等线 Light</vt:lpstr>
      <vt:lpstr>Arial</vt:lpstr>
      <vt:lpstr>Poppins</vt:lpstr>
      <vt:lpstr>Roboto Mono</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yubin liu</dc:creator>
  <cp:lastModifiedBy>yubin liu</cp:lastModifiedBy>
  <cp:revision>1</cp:revision>
  <dcterms:created xsi:type="dcterms:W3CDTF">2026-04-14T06:09:57Z</dcterms:created>
  <dcterms:modified xsi:type="dcterms:W3CDTF">2026-04-14T06:16:29Z</dcterms:modified>
</cp:coreProperties>
</file>